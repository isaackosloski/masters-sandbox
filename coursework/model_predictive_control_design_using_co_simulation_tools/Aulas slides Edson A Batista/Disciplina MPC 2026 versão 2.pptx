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</p:sldIdLst>
  <p:sldSz cy="6858000" cx="12192000"/>
  <p:notesSz cx="6858000" cy="9144000"/>
  <p:embeddedFontLst>
    <p:embeddedFont>
      <p:font typeface="Roboto"/>
      <p:regular r:id="rId168"/>
      <p:bold r:id="rId169"/>
      <p:italic r:id="rId170"/>
      <p:boldItalic r:id="rId171"/>
    </p:embeddedFont>
    <p:embeddedFont>
      <p:font typeface="Arimo"/>
      <p:regular r:id="rId172"/>
      <p:bold r:id="rId173"/>
      <p:italic r:id="rId174"/>
      <p:boldItalic r:id="rId175"/>
    </p:embeddedFont>
    <p:embeddedFont>
      <p:font typeface="Inter"/>
      <p:regular r:id="rId176"/>
      <p:bold r:id="rId177"/>
      <p:italic r:id="rId178"/>
      <p:boldItalic r:id="rId179"/>
    </p:embeddedFont>
    <p:embeddedFont>
      <p:font typeface="Noto Sans Symbols"/>
      <p:regular r:id="rId180"/>
      <p:bold r:id="rId181"/>
    </p:embeddedFont>
    <p:embeddedFont>
      <p:font typeface="Barlow"/>
      <p:bold r:id="rId182"/>
      <p:boldItalic r:id="rId183"/>
    </p:embeddedFont>
    <p:embeddedFont>
      <p:font typeface="Cambria Math"/>
      <p:regular r:id="rId1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5" roundtripDataSignature="AMtx7mgeWc2Y4sidcBJb9acUdDqc6PAV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54EAE8-90E3-4B85-84C9-B66E9A6B7BBD}">
  <a:tblStyle styleId="{DA54EAE8-90E3-4B85-84C9-B66E9A6B7B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185" Type="http://customschemas.google.com/relationships/presentationmetadata" Target="metadata"/><Relationship Id="rId49" Type="http://schemas.openxmlformats.org/officeDocument/2006/relationships/slide" Target="slides/slide43.xml"/><Relationship Id="rId184" Type="http://schemas.openxmlformats.org/officeDocument/2006/relationships/font" Target="fonts/CambriaMath-regular.fntdata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font" Target="fonts/Barlow-boldItalic.fntdata"/><Relationship Id="rId32" Type="http://schemas.openxmlformats.org/officeDocument/2006/relationships/slide" Target="slides/slide26.xml"/><Relationship Id="rId182" Type="http://schemas.openxmlformats.org/officeDocument/2006/relationships/font" Target="fonts/Barlow-bold.fntdata"/><Relationship Id="rId35" Type="http://schemas.openxmlformats.org/officeDocument/2006/relationships/slide" Target="slides/slide29.xml"/><Relationship Id="rId181" Type="http://schemas.openxmlformats.org/officeDocument/2006/relationships/font" Target="fonts/NotoSansSymbols-bold.fntdata"/><Relationship Id="rId34" Type="http://schemas.openxmlformats.org/officeDocument/2006/relationships/slide" Target="slides/slide28.xml"/><Relationship Id="rId180" Type="http://schemas.openxmlformats.org/officeDocument/2006/relationships/font" Target="fonts/NotoSansSymbols-regular.fntdata"/><Relationship Id="rId37" Type="http://schemas.openxmlformats.org/officeDocument/2006/relationships/slide" Target="slides/slide31.xml"/><Relationship Id="rId176" Type="http://schemas.openxmlformats.org/officeDocument/2006/relationships/font" Target="fonts/Inter-regular.fntdata"/><Relationship Id="rId36" Type="http://schemas.openxmlformats.org/officeDocument/2006/relationships/slide" Target="slides/slide30.xml"/><Relationship Id="rId175" Type="http://schemas.openxmlformats.org/officeDocument/2006/relationships/font" Target="fonts/Arimo-boldItalic.fntdata"/><Relationship Id="rId39" Type="http://schemas.openxmlformats.org/officeDocument/2006/relationships/slide" Target="slides/slide33.xml"/><Relationship Id="rId174" Type="http://schemas.openxmlformats.org/officeDocument/2006/relationships/font" Target="fonts/Arimo-italic.fntdata"/><Relationship Id="rId38" Type="http://schemas.openxmlformats.org/officeDocument/2006/relationships/slide" Target="slides/slide32.xml"/><Relationship Id="rId173" Type="http://schemas.openxmlformats.org/officeDocument/2006/relationships/font" Target="fonts/Arimo-bold.fntdata"/><Relationship Id="rId179" Type="http://schemas.openxmlformats.org/officeDocument/2006/relationships/font" Target="fonts/Inter-boldItalic.fntdata"/><Relationship Id="rId178" Type="http://schemas.openxmlformats.org/officeDocument/2006/relationships/font" Target="fonts/Inter-italic.fntdata"/><Relationship Id="rId177" Type="http://schemas.openxmlformats.org/officeDocument/2006/relationships/font" Target="fonts/Inter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font" Target="fonts/Arimo-regular.fntdata"/><Relationship Id="rId65" Type="http://schemas.openxmlformats.org/officeDocument/2006/relationships/slide" Target="slides/slide59.xml"/><Relationship Id="rId171" Type="http://schemas.openxmlformats.org/officeDocument/2006/relationships/font" Target="fonts/Roboto-boldItalic.fntdata"/><Relationship Id="rId68" Type="http://schemas.openxmlformats.org/officeDocument/2006/relationships/slide" Target="slides/slide62.xml"/><Relationship Id="rId170" Type="http://schemas.openxmlformats.org/officeDocument/2006/relationships/font" Target="fonts/Roboto-italic.fntdata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font" Target="fonts/Roboto-bold.fntdata"/><Relationship Id="rId168" Type="http://schemas.openxmlformats.org/officeDocument/2006/relationships/font" Target="fonts/Roboto-regular.fntdata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ce72836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cce72836e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ce72836e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cce72836e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ce72836e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cce72836e3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f9152d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cef9152dcc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ef9152dc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cef9152dcc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ef9152dc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cef9152dcc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ef9152dc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cef9152dcc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ef9152dc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cef9152dcc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ef9152dc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cef9152dcc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ef9152dc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cef9152dcc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f05c52455_0_9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3" name="Google Shape;353;g3cf05c52455_0_9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f05c52455_0_16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1" name="Google Shape;361;g3cf05c52455_0_16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f05c52455_0_23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9" name="Google Shape;369;g3cf05c52455_0_23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f05c52455_0_30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7" name="Google Shape;377;g3cf05c52455_0_30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f05c52455_0_37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5" name="Google Shape;385;g3cf05c52455_0_37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f05c52455_0_44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3" name="Google Shape;393;g3cf05c52455_0_44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f05c52455_0_51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1" name="Google Shape;401;g3cf05c52455_0_51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f05c52455_0_58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9" name="Google Shape;409;g3cf05c52455_0_58:notes"/>
          <p:cNvSpPr/>
          <p:nvPr>
            <p:ph idx="2" type="sldImg"/>
          </p:nvPr>
        </p:nvSpPr>
        <p:spPr>
          <a:xfrm>
            <a:off x="42576" y="685249"/>
            <a:ext cx="67728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f05c524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cf05c5245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678ad926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9678ad92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9678ad926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8b383752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8b383752f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8b383752f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8b383752f4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4" name="Google Shape;76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7" name="Google Shape;84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2" name="Google Shape;932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7" name="Google Shape;997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7" name="Google Shape;1037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3" name="Google Shape;1073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7" name="Google Shape;1087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8" name="Google Shape;1108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3" name="Google Shape;1123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5" name="Google Shape;1145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4" name="Google Shape;1164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7" name="Google Shape;1177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3" name="Google Shape;1193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6" name="Google Shape;1206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4" name="Google Shape;1214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2" name="Google Shape;1222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0" name="Google Shape;1230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6" name="Google Shape;1246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4" name="Google Shape;1254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5" name="Google Shape;1275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3" name="Google Shape;1283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1" name="Google Shape;1291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9" name="Google Shape;1299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1" name="Google Shape;1311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8" name="Google Shape;1318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3" name="Google Shape;1333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9" name="Google Shape;1349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6" name="Google Shape;1366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5" name="Google Shape;1375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2" name="Google Shape;1392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e8262c5763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e8262c57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g3e8262c5763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e8262c5763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3e8262c57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g3e8262c5763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e8262c5763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e8262c576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g3e8262c5763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e8262c5763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e8262c576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g3e8262c5763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e8262c5763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e8262c576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g3e8262c5763_0_1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3" name="Google Shape;1443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1" name="Google Shape;1451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9" name="Google Shape;1459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9" name="Google Shape;1469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6" name="Google Shape;1476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5" name="Google Shape;1485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3" name="Google Shape;1493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1" name="Google Shape;1501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9" name="Google Shape;1509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7" name="Google Shape;1517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5" name="Google Shape;1525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5" name="Google Shape;1535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4" name="Google Shape;1544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3" name="Google Shape;1553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4" name="Google Shape;1564;p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3" name="Google Shape;1573;p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4" name="Google Shape;1584;p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3" name="Google Shape;1593;p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3" name="Google Shape;1603;p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3" name="Google Shape;1613;p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4" name="Google Shape;1624;p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5" name="Google Shape;1635;p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3" name="Google Shape;1643;p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3" name="Google Shape;1653;p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1" name="Google Shape;1661;p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9" name="Google Shape;1669;p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7" name="Google Shape;1677;p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8" name="Google Shape;1688;p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8" name="Google Shape;1698;p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9" name="Google Shape;1709;p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0" name="Google Shape;1720;p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8" name="Google Shape;1728;p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6" name="Google Shape;1736;p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6" name="Google Shape;1746;p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5" name="Google Shape;1755;p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5" name="Google Shape;1765;p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5" name="Google Shape;1775;p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3" name="Google Shape;1783;p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3" name="Google Shape;1793;p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2" name="Google Shape;1802;p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3" name="Google Shape;1813;p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5" name="Google Shape;1825;p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2" name="Google Shape;1842;p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2" name="Google Shape;1862;p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3" name="Google Shape;1873;p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8" name="Google Shape;1888;p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3cce72836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6" name="Google Shape;1896;g3cce72836e3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cce72836e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2" name="Google Shape;1912;g3cce72836e3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3cce72836e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3" name="Google Shape;1923;g3cce72836e3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4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4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1 LABSEM.jpeg" id="10" name="Google Shape;10;p1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8.jpg"/><Relationship Id="rId5" Type="http://schemas.openxmlformats.org/officeDocument/2006/relationships/image" Target="../media/image46.jp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Relationship Id="rId4" Type="http://schemas.openxmlformats.org/officeDocument/2006/relationships/image" Target="../media/image45.png"/><Relationship Id="rId5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4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Relationship Id="rId4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48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Relationship Id="rId5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Relationship Id="rId4" Type="http://schemas.openxmlformats.org/officeDocument/2006/relationships/image" Target="../media/image71.png"/><Relationship Id="rId9" Type="http://schemas.openxmlformats.org/officeDocument/2006/relationships/image" Target="../media/image115.png"/><Relationship Id="rId5" Type="http://schemas.openxmlformats.org/officeDocument/2006/relationships/image" Target="../media/image68.png"/><Relationship Id="rId6" Type="http://schemas.openxmlformats.org/officeDocument/2006/relationships/image" Target="../media/image83.png"/><Relationship Id="rId7" Type="http://schemas.openxmlformats.org/officeDocument/2006/relationships/image" Target="../media/image67.png"/><Relationship Id="rId8" Type="http://schemas.openxmlformats.org/officeDocument/2006/relationships/image" Target="../media/image6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8.png"/><Relationship Id="rId4" Type="http://schemas.openxmlformats.org/officeDocument/2006/relationships/image" Target="../media/image12.png"/><Relationship Id="rId5" Type="http://schemas.openxmlformats.org/officeDocument/2006/relationships/image" Target="../media/image79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Relationship Id="rId5" Type="http://schemas.openxmlformats.org/officeDocument/2006/relationships/image" Target="../media/image76.png"/><Relationship Id="rId6" Type="http://schemas.openxmlformats.org/officeDocument/2006/relationships/image" Target="../media/image95.png"/></Relationships>
</file>

<file path=ppt/slides/_rels/slide5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6.png"/><Relationship Id="rId10" Type="http://schemas.openxmlformats.org/officeDocument/2006/relationships/image" Target="../media/image87.png"/><Relationship Id="rId13" Type="http://schemas.openxmlformats.org/officeDocument/2006/relationships/image" Target="../media/image116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6.png"/><Relationship Id="rId4" Type="http://schemas.openxmlformats.org/officeDocument/2006/relationships/image" Target="../media/image46.jpg"/><Relationship Id="rId9" Type="http://schemas.openxmlformats.org/officeDocument/2006/relationships/image" Target="../media/image81.png"/><Relationship Id="rId15" Type="http://schemas.openxmlformats.org/officeDocument/2006/relationships/image" Target="../media/image109.png"/><Relationship Id="rId14" Type="http://schemas.openxmlformats.org/officeDocument/2006/relationships/image" Target="../media/image90.png"/><Relationship Id="rId16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88.png"/></Relationships>
</file>

<file path=ppt/slides/_rels/slide5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0.png"/><Relationship Id="rId10" Type="http://schemas.openxmlformats.org/officeDocument/2006/relationships/image" Target="../media/image97.png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9" Type="http://schemas.openxmlformats.org/officeDocument/2006/relationships/image" Target="../media/image102.png"/><Relationship Id="rId5" Type="http://schemas.openxmlformats.org/officeDocument/2006/relationships/image" Target="../media/image93.png"/><Relationship Id="rId6" Type="http://schemas.openxmlformats.org/officeDocument/2006/relationships/image" Target="../media/image101.png"/><Relationship Id="rId7" Type="http://schemas.openxmlformats.org/officeDocument/2006/relationships/image" Target="../media/image94.png"/><Relationship Id="rId8" Type="http://schemas.openxmlformats.org/officeDocument/2006/relationships/image" Target="../media/image12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4.png"/><Relationship Id="rId4" Type="http://schemas.openxmlformats.org/officeDocument/2006/relationships/image" Target="../media/image111.png"/><Relationship Id="rId5" Type="http://schemas.openxmlformats.org/officeDocument/2006/relationships/image" Target="../media/image108.png"/><Relationship Id="rId6" Type="http://schemas.openxmlformats.org/officeDocument/2006/relationships/image" Target="../media/image10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jpg"/><Relationship Id="rId4" Type="http://schemas.openxmlformats.org/officeDocument/2006/relationships/image" Target="../media/image106.png"/><Relationship Id="rId9" Type="http://schemas.openxmlformats.org/officeDocument/2006/relationships/image" Target="../media/image117.png"/><Relationship Id="rId5" Type="http://schemas.openxmlformats.org/officeDocument/2006/relationships/image" Target="../media/image105.png"/><Relationship Id="rId6" Type="http://schemas.openxmlformats.org/officeDocument/2006/relationships/image" Target="../media/image103.png"/><Relationship Id="rId7" Type="http://schemas.openxmlformats.org/officeDocument/2006/relationships/image" Target="../media/image122.png"/><Relationship Id="rId8" Type="http://schemas.openxmlformats.org/officeDocument/2006/relationships/image" Target="../media/image11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jpg"/><Relationship Id="rId4" Type="http://schemas.openxmlformats.org/officeDocument/2006/relationships/image" Target="../media/image112.png"/><Relationship Id="rId5" Type="http://schemas.openxmlformats.org/officeDocument/2006/relationships/image" Target="../media/image120.png"/><Relationship Id="rId6" Type="http://schemas.openxmlformats.org/officeDocument/2006/relationships/image" Target="../media/image119.png"/><Relationship Id="rId7" Type="http://schemas.openxmlformats.org/officeDocument/2006/relationships/image" Target="../media/image13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18.png"/><Relationship Id="rId9" Type="http://schemas.openxmlformats.org/officeDocument/2006/relationships/image" Target="../media/image131.png"/><Relationship Id="rId5" Type="http://schemas.openxmlformats.org/officeDocument/2006/relationships/image" Target="../media/image125.png"/><Relationship Id="rId6" Type="http://schemas.openxmlformats.org/officeDocument/2006/relationships/image" Target="../media/image127.png"/><Relationship Id="rId7" Type="http://schemas.openxmlformats.org/officeDocument/2006/relationships/image" Target="../media/image121.png"/><Relationship Id="rId8" Type="http://schemas.openxmlformats.org/officeDocument/2006/relationships/image" Target="../media/image13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png"/><Relationship Id="rId4" Type="http://schemas.openxmlformats.org/officeDocument/2006/relationships/image" Target="../media/image12.png"/><Relationship Id="rId5" Type="http://schemas.openxmlformats.org/officeDocument/2006/relationships/image" Target="../media/image79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44.png"/><Relationship Id="rId4" Type="http://schemas.openxmlformats.org/officeDocument/2006/relationships/image" Target="../media/image1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5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3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4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Relationship Id="rId6" Type="http://schemas.openxmlformats.org/officeDocument/2006/relationships/image" Target="../media/image14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37.png"/><Relationship Id="rId4" Type="http://schemas.openxmlformats.org/officeDocument/2006/relationships/image" Target="../media/image159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5.png"/><Relationship Id="rId4" Type="http://schemas.openxmlformats.org/officeDocument/2006/relationships/image" Target="../media/image149.png"/><Relationship Id="rId5" Type="http://schemas.openxmlformats.org/officeDocument/2006/relationships/image" Target="../media/image14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67.png"/><Relationship Id="rId4" Type="http://schemas.openxmlformats.org/officeDocument/2006/relationships/image" Target="../media/image148.png"/><Relationship Id="rId5" Type="http://schemas.openxmlformats.org/officeDocument/2006/relationships/image" Target="../media/image14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8.png"/><Relationship Id="rId4" Type="http://schemas.openxmlformats.org/officeDocument/2006/relationships/image" Target="../media/image16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5.png"/><Relationship Id="rId4" Type="http://schemas.openxmlformats.org/officeDocument/2006/relationships/image" Target="../media/image162.png"/><Relationship Id="rId5" Type="http://schemas.openxmlformats.org/officeDocument/2006/relationships/image" Target="../media/image153.png"/><Relationship Id="rId6" Type="http://schemas.openxmlformats.org/officeDocument/2006/relationships/image" Target="../media/image152.png"/><Relationship Id="rId7" Type="http://schemas.openxmlformats.org/officeDocument/2006/relationships/image" Target="../media/image151.png"/><Relationship Id="rId8" Type="http://schemas.openxmlformats.org/officeDocument/2006/relationships/image" Target="../media/image25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54.png"/><Relationship Id="rId4" Type="http://schemas.openxmlformats.org/officeDocument/2006/relationships/image" Target="../media/image157.png"/><Relationship Id="rId5" Type="http://schemas.openxmlformats.org/officeDocument/2006/relationships/image" Target="../media/image179.png"/><Relationship Id="rId6" Type="http://schemas.openxmlformats.org/officeDocument/2006/relationships/image" Target="../media/image183.png"/><Relationship Id="rId7" Type="http://schemas.openxmlformats.org/officeDocument/2006/relationships/image" Target="../media/image17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72.png"/><Relationship Id="rId4" Type="http://schemas.openxmlformats.org/officeDocument/2006/relationships/image" Target="../media/image166.png"/><Relationship Id="rId5" Type="http://schemas.openxmlformats.org/officeDocument/2006/relationships/image" Target="../media/image164.png"/><Relationship Id="rId6" Type="http://schemas.openxmlformats.org/officeDocument/2006/relationships/image" Target="../media/image163.png"/><Relationship Id="rId7" Type="http://schemas.openxmlformats.org/officeDocument/2006/relationships/image" Target="../media/image165.png"/><Relationship Id="rId8" Type="http://schemas.openxmlformats.org/officeDocument/2006/relationships/image" Target="../media/image17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7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87.png"/><Relationship Id="rId4" Type="http://schemas.openxmlformats.org/officeDocument/2006/relationships/image" Target="../media/image19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82.png"/><Relationship Id="rId4" Type="http://schemas.openxmlformats.org/officeDocument/2006/relationships/image" Target="../media/image173.png"/><Relationship Id="rId5" Type="http://schemas.openxmlformats.org/officeDocument/2006/relationships/image" Target="../media/image171.png"/><Relationship Id="rId6" Type="http://schemas.openxmlformats.org/officeDocument/2006/relationships/image" Target="../media/image196.png"/></Relationships>
</file>

<file path=ppt/slides/_rels/slide7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9.png"/><Relationship Id="rId10" Type="http://schemas.openxmlformats.org/officeDocument/2006/relationships/image" Target="../media/image198.png"/><Relationship Id="rId13" Type="http://schemas.openxmlformats.org/officeDocument/2006/relationships/image" Target="../media/image191.png"/><Relationship Id="rId1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75.png"/><Relationship Id="rId4" Type="http://schemas.openxmlformats.org/officeDocument/2006/relationships/image" Target="../media/image177.png"/><Relationship Id="rId9" Type="http://schemas.openxmlformats.org/officeDocument/2006/relationships/image" Target="../media/image181.png"/><Relationship Id="rId5" Type="http://schemas.openxmlformats.org/officeDocument/2006/relationships/image" Target="../media/image185.png"/><Relationship Id="rId6" Type="http://schemas.openxmlformats.org/officeDocument/2006/relationships/image" Target="../media/image180.png"/><Relationship Id="rId7" Type="http://schemas.openxmlformats.org/officeDocument/2006/relationships/image" Target="../media/image178.png"/><Relationship Id="rId8" Type="http://schemas.openxmlformats.org/officeDocument/2006/relationships/image" Target="../media/image18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89.png"/><Relationship Id="rId4" Type="http://schemas.openxmlformats.org/officeDocument/2006/relationships/image" Target="../media/image213.png"/><Relationship Id="rId5" Type="http://schemas.openxmlformats.org/officeDocument/2006/relationships/image" Target="../media/image194.png"/><Relationship Id="rId6" Type="http://schemas.openxmlformats.org/officeDocument/2006/relationships/image" Target="../media/image192.png"/></Relationships>
</file>

<file path=ppt/slides/_rels/slide8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6.png"/><Relationship Id="rId10" Type="http://schemas.openxmlformats.org/officeDocument/2006/relationships/image" Target="../media/image208.png"/><Relationship Id="rId13" Type="http://schemas.openxmlformats.org/officeDocument/2006/relationships/image" Target="../media/image201.png"/><Relationship Id="rId1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97.png"/><Relationship Id="rId4" Type="http://schemas.openxmlformats.org/officeDocument/2006/relationships/image" Target="../media/image193.png"/><Relationship Id="rId9" Type="http://schemas.openxmlformats.org/officeDocument/2006/relationships/image" Target="../media/image207.png"/><Relationship Id="rId5" Type="http://schemas.openxmlformats.org/officeDocument/2006/relationships/image" Target="../media/image190.png"/><Relationship Id="rId6" Type="http://schemas.openxmlformats.org/officeDocument/2006/relationships/image" Target="../media/image195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03.png"/><Relationship Id="rId4" Type="http://schemas.openxmlformats.org/officeDocument/2006/relationships/image" Target="../media/image219.png"/><Relationship Id="rId5" Type="http://schemas.openxmlformats.org/officeDocument/2006/relationships/image" Target="../media/image214.png"/><Relationship Id="rId6" Type="http://schemas.openxmlformats.org/officeDocument/2006/relationships/image" Target="../media/image209.png"/><Relationship Id="rId7" Type="http://schemas.openxmlformats.org/officeDocument/2006/relationships/image" Target="../media/image210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11.jpg"/><Relationship Id="rId4" Type="http://schemas.openxmlformats.org/officeDocument/2006/relationships/image" Target="../media/image212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96.png"/><Relationship Id="rId4" Type="http://schemas.openxmlformats.org/officeDocument/2006/relationships/image" Target="../media/image202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17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29.png"/><Relationship Id="rId4" Type="http://schemas.openxmlformats.org/officeDocument/2006/relationships/image" Target="../media/image216.jpg"/><Relationship Id="rId5" Type="http://schemas.openxmlformats.org/officeDocument/2006/relationships/image" Target="../media/image215.png"/><Relationship Id="rId6" Type="http://schemas.openxmlformats.org/officeDocument/2006/relationships/image" Target="../media/image22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84.png"/><Relationship Id="rId4" Type="http://schemas.openxmlformats.org/officeDocument/2006/relationships/image" Target="../media/image21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25.png"/><Relationship Id="rId4" Type="http://schemas.openxmlformats.org/officeDocument/2006/relationships/image" Target="../media/image25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37.png"/><Relationship Id="rId4" Type="http://schemas.openxmlformats.org/officeDocument/2006/relationships/image" Target="../media/image22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2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2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54.png"/><Relationship Id="rId4" Type="http://schemas.openxmlformats.org/officeDocument/2006/relationships/image" Target="../media/image196.png"/><Relationship Id="rId5" Type="http://schemas.openxmlformats.org/officeDocument/2006/relationships/image" Target="../media/image227.png"/><Relationship Id="rId6" Type="http://schemas.openxmlformats.org/officeDocument/2006/relationships/image" Target="../media/image222.png"/><Relationship Id="rId7" Type="http://schemas.openxmlformats.org/officeDocument/2006/relationships/image" Target="../media/image220.png"/><Relationship Id="rId8" Type="http://schemas.openxmlformats.org/officeDocument/2006/relationships/image" Target="../media/image22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3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39.png"/><Relationship Id="rId4" Type="http://schemas.openxmlformats.org/officeDocument/2006/relationships/image" Target="../media/image231.png"/><Relationship Id="rId5" Type="http://schemas.openxmlformats.org/officeDocument/2006/relationships/image" Target="../media/image241.png"/><Relationship Id="rId6" Type="http://schemas.openxmlformats.org/officeDocument/2006/relationships/image" Target="../media/image23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40.png"/><Relationship Id="rId4" Type="http://schemas.openxmlformats.org/officeDocument/2006/relationships/image" Target="../media/image23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6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33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36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35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4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55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45.png"/><Relationship Id="rId4" Type="http://schemas.openxmlformats.org/officeDocument/2006/relationships/image" Target="../media/image242.png"/><Relationship Id="rId5" Type="http://schemas.openxmlformats.org/officeDocument/2006/relationships/image" Target="../media/image246.png"/><Relationship Id="rId6" Type="http://schemas.openxmlformats.org/officeDocument/2006/relationships/image" Target="../media/image249.png"/><Relationship Id="rId7" Type="http://schemas.openxmlformats.org/officeDocument/2006/relationships/image" Target="../media/image247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44.jpg"/><Relationship Id="rId4" Type="http://schemas.openxmlformats.org/officeDocument/2006/relationships/image" Target="../media/image248.png"/><Relationship Id="rId5" Type="http://schemas.openxmlformats.org/officeDocument/2006/relationships/image" Target="../media/image253.png"/><Relationship Id="rId6" Type="http://schemas.openxmlformats.org/officeDocument/2006/relationships/image" Target="../media/image257.png"/><Relationship Id="rId7" Type="http://schemas.openxmlformats.org/officeDocument/2006/relationships/image" Target="../media/image264.png"/><Relationship Id="rId8" Type="http://schemas.openxmlformats.org/officeDocument/2006/relationships/image" Target="../media/image279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62.png"/><Relationship Id="rId4" Type="http://schemas.openxmlformats.org/officeDocument/2006/relationships/image" Target="../media/image256.png"/><Relationship Id="rId5" Type="http://schemas.openxmlformats.org/officeDocument/2006/relationships/image" Target="../media/image266.png"/><Relationship Id="rId6" Type="http://schemas.openxmlformats.org/officeDocument/2006/relationships/image" Target="../media/image259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57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265.png"/><Relationship Id="rId4" Type="http://schemas.openxmlformats.org/officeDocument/2006/relationships/image" Target="../media/image283.png"/><Relationship Id="rId5" Type="http://schemas.openxmlformats.org/officeDocument/2006/relationships/image" Target="../media/image271.png"/><Relationship Id="rId6" Type="http://schemas.openxmlformats.org/officeDocument/2006/relationships/image" Target="../media/image258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6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68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69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14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70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7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75.png"/><Relationship Id="rId4" Type="http://schemas.openxmlformats.org/officeDocument/2006/relationships/image" Target="../media/image27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77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80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74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86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76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81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78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87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11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82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85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296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08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93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75.png"/><Relationship Id="rId4" Type="http://schemas.openxmlformats.org/officeDocument/2006/relationships/image" Target="../media/image272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275.png"/><Relationship Id="rId4" Type="http://schemas.openxmlformats.org/officeDocument/2006/relationships/image" Target="../media/image288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75.png"/><Relationship Id="rId4" Type="http://schemas.openxmlformats.org/officeDocument/2006/relationships/image" Target="../media/image272.png"/><Relationship Id="rId5" Type="http://schemas.openxmlformats.org/officeDocument/2006/relationships/image" Target="../media/image290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294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29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98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29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295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339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09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297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01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310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299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302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19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317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304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300.png"/><Relationship Id="rId4" Type="http://schemas.openxmlformats.org/officeDocument/2006/relationships/image" Target="../media/image341.png"/><Relationship Id="rId5" Type="http://schemas.openxmlformats.org/officeDocument/2006/relationships/image" Target="../media/image303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305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307.png"/><Relationship Id="rId4" Type="http://schemas.openxmlformats.org/officeDocument/2006/relationships/image" Target="../media/image306.png"/><Relationship Id="rId5" Type="http://schemas.openxmlformats.org/officeDocument/2006/relationships/image" Target="../media/image312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313.png"/><Relationship Id="rId4" Type="http://schemas.openxmlformats.org/officeDocument/2006/relationships/image" Target="../media/image322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316.png"/><Relationship Id="rId4" Type="http://schemas.openxmlformats.org/officeDocument/2006/relationships/image" Target="../media/image318.png"/><Relationship Id="rId5" Type="http://schemas.openxmlformats.org/officeDocument/2006/relationships/image" Target="../media/image315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27.png"/><Relationship Id="rId4" Type="http://schemas.openxmlformats.org/officeDocument/2006/relationships/image" Target="../media/image324.png"/><Relationship Id="rId5" Type="http://schemas.openxmlformats.org/officeDocument/2006/relationships/image" Target="../media/image326.png"/><Relationship Id="rId6" Type="http://schemas.openxmlformats.org/officeDocument/2006/relationships/image" Target="../media/image355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31.png"/><Relationship Id="rId4" Type="http://schemas.openxmlformats.org/officeDocument/2006/relationships/image" Target="../media/image320.png"/><Relationship Id="rId5" Type="http://schemas.openxmlformats.org/officeDocument/2006/relationships/image" Target="../media/image321.png"/><Relationship Id="rId6" Type="http://schemas.openxmlformats.org/officeDocument/2006/relationships/image" Target="../media/image323.png"/><Relationship Id="rId7" Type="http://schemas.openxmlformats.org/officeDocument/2006/relationships/image" Target="../media/image325.png"/><Relationship Id="rId8" Type="http://schemas.openxmlformats.org/officeDocument/2006/relationships/image" Target="../media/image340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28.png"/><Relationship Id="rId4" Type="http://schemas.openxmlformats.org/officeDocument/2006/relationships/image" Target="../media/image332.png"/><Relationship Id="rId9" Type="http://schemas.openxmlformats.org/officeDocument/2006/relationships/image" Target="../media/image338.png"/><Relationship Id="rId5" Type="http://schemas.openxmlformats.org/officeDocument/2006/relationships/image" Target="../media/image330.png"/><Relationship Id="rId6" Type="http://schemas.openxmlformats.org/officeDocument/2006/relationships/image" Target="../media/image333.png"/><Relationship Id="rId7" Type="http://schemas.openxmlformats.org/officeDocument/2006/relationships/image" Target="../media/image334.png"/><Relationship Id="rId8" Type="http://schemas.openxmlformats.org/officeDocument/2006/relationships/image" Target="../media/image337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335.png"/><Relationship Id="rId4" Type="http://schemas.openxmlformats.org/officeDocument/2006/relationships/image" Target="../media/image348.png"/><Relationship Id="rId5" Type="http://schemas.openxmlformats.org/officeDocument/2006/relationships/image" Target="../media/image336.png"/><Relationship Id="rId6" Type="http://schemas.openxmlformats.org/officeDocument/2006/relationships/image" Target="../media/image343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350.png"/><Relationship Id="rId4" Type="http://schemas.openxmlformats.org/officeDocument/2006/relationships/image" Target="../media/image351.png"/><Relationship Id="rId5" Type="http://schemas.openxmlformats.org/officeDocument/2006/relationships/image" Target="../media/image348.png"/><Relationship Id="rId6" Type="http://schemas.openxmlformats.org/officeDocument/2006/relationships/image" Target="../media/image345.png"/><Relationship Id="rId7" Type="http://schemas.openxmlformats.org/officeDocument/2006/relationships/image" Target="../media/image342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353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356.png"/><Relationship Id="rId4" Type="http://schemas.openxmlformats.org/officeDocument/2006/relationships/image" Target="../media/image344.png"/><Relationship Id="rId5" Type="http://schemas.openxmlformats.org/officeDocument/2006/relationships/image" Target="../media/image359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346.png"/><Relationship Id="rId4" Type="http://schemas.openxmlformats.org/officeDocument/2006/relationships/image" Target="../media/image347.png"/><Relationship Id="rId5" Type="http://schemas.openxmlformats.org/officeDocument/2006/relationships/image" Target="../media/image349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357.png"/><Relationship Id="rId4" Type="http://schemas.openxmlformats.org/officeDocument/2006/relationships/image" Target="../media/image358.png"/><Relationship Id="rId5" Type="http://schemas.openxmlformats.org/officeDocument/2006/relationships/image" Target="../media/image3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210950" y="1793850"/>
            <a:ext cx="116721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 de Controle Preditivo baseado em Modelos (MPC) utilizando ferramentas de </a:t>
            </a:r>
            <a:r>
              <a:rPr b="1" i="0" lang="pt-BR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Hardware in the loop</a:t>
            </a: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631688" y="5894685"/>
            <a:ext cx="75066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Dr. Edson Antonio Batista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435196" y="1594088"/>
            <a:ext cx="109875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Ementa: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Estudo e aplicação do controle preditivo baseado em modelo (Model Predictive Control – MPC) em sistemas dinâmicos discretos, com foco em implementação prática utilizando plataformas de Hardware-in-the-Loop (HiL). Revisão de conceitos fundamentais de álgebra matricial, análise de sistemas no espaço de estados e discretização de modelos. Formulação do problema de otimização no MPC. Estratégias de MPC com restrições e com funções de base de Laguerre. Implementação computacional, simulação e testes de controladores preditivos em ambiente HiL utilizando ferramentas como MATLAB/Simulink e FPGAs. Análise de desempenho, robustez e tempo real em aplicações industriais e </a:t>
            </a:r>
            <a:r>
              <a:rPr lang="pt-BR" sz="1800">
                <a:solidFill>
                  <a:schemeClr val="dk1"/>
                </a:solidFill>
              </a:rPr>
              <a:t>de energia.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ce72836e3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5" name="Google Shape;105;g3cce72836e3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06" name="Google Shape;106;g3cce72836e3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" name="Google Shape;107;g3cce72836e3_0_0"/>
          <p:cNvSpPr txBox="1"/>
          <p:nvPr/>
        </p:nvSpPr>
        <p:spPr>
          <a:xfrm>
            <a:off x="435196" y="1594088"/>
            <a:ext cx="10987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Compreender os fundamentos teóricos do controle preditivo baseado em modelo discreto;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Aplicar técnicas de modelagem e controle preditivo em sistemas lineares e não lineares;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Desenvolver e implementar controladores MPC em plataformas digitais e embarcadas.;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Integrar metodologias de simulação e validação via Hardware-in-the-Loop;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Explorar aplicações do MPC em controle de processos, sistemas elétricos, telecomunicações, eletrônicos e energéticos.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ce72836e3_0_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3" name="Google Shape;113;g3cce72836e3_0_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14" name="Google Shape;114;g3cce72836e3_0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g3cce72836e3_0_9"/>
          <p:cNvSpPr txBox="1"/>
          <p:nvPr/>
        </p:nvSpPr>
        <p:spPr>
          <a:xfrm>
            <a:off x="602100" y="1112400"/>
            <a:ext cx="8008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</a:rPr>
              <a:t>Conteúdo Programático </a:t>
            </a:r>
            <a:endParaRPr sz="1100">
              <a:solidFill>
                <a:srgbClr val="F44336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t-BR" sz="1600">
                <a:solidFill>
                  <a:schemeClr val="dk1"/>
                </a:solidFill>
              </a:rPr>
              <a:t>Revisão Matemática e Modelagem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Operações matriciais e propriedades fundamentais -  </a:t>
            </a:r>
            <a:r>
              <a:rPr b="1" lang="pt-BR">
                <a:solidFill>
                  <a:schemeClr val="dk1"/>
                </a:solidFill>
              </a:rPr>
              <a:t>VHDL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Modelagem de sistemas dinâmicos lineares e não lineares no espaço de estados - Matlab.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Discretização de sistemas contínuos - Matlab.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Representações equivalentes e análise de controlabilidade e observabilidade - Matlab.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Fundamentos de Controle Preditivo (MPC)</a:t>
            </a:r>
            <a:endParaRPr b="1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Estrutura geral do MPC.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Formulação do problema de otimização quadrática (QP).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Função custo, horizonte de predição e controle.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Restrições em variáveis de estado e de controle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MPC com Restrições e Robustez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Controle preditivo sob restrições de amplitude e taxa.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Técnicas de suavização e tuning de parâmetros.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Estratégias para tratamento de incertezas e ruídos.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ce72836e3_0_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1" name="Google Shape;121;g3cce72836e3_0_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22" name="Google Shape;122;g3cce72836e3_0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" name="Google Shape;123;g3cce72836e3_0_17"/>
          <p:cNvSpPr txBox="1"/>
          <p:nvPr/>
        </p:nvSpPr>
        <p:spPr>
          <a:xfrm>
            <a:off x="366298" y="1106450"/>
            <a:ext cx="6464100" cy="59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Conteúdo Programático </a:t>
            </a:r>
            <a:endParaRPr sz="1100">
              <a:solidFill>
                <a:srgbClr val="F44336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3. </a:t>
            </a:r>
            <a:r>
              <a:rPr lang="pt-BR" sz="1300">
                <a:solidFill>
                  <a:schemeClr val="dk1"/>
                </a:solidFill>
              </a:rPr>
              <a:t>MPC com Funções de Laguerre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Representação compacta da dinâmica por funções de Laguerre.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Redução de complexidade computacional.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Implementação numérica e análise de desempenho.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4. Implementação Computacional e Hardware-in-the-Loop (HiL)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Introdução ao conceito e arquitetura de sistemas HiL.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Ferramentas para desenvolvimento e teste (MATLAB/Simulink, FPGA).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Integração entre modelos simulados e hardware real.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Testes em malha fechada e validação experimental.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5. Estudo de Casos e Aplicações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Aplicações em processos tecnológicos.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Análise comparativa de desempenho entre abordagens clássicas e MPC.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Projeto final: implementação de um controlador MPC em ambiente HiL.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159740" y="1217833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Critério de Avaliação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0" name="Google Shape;13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31" name="Google Shape;13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342375" y="1888275"/>
            <a:ext cx="697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Exercícios e relatórios de laboratório (30%)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Seminários e apresentações técnicas (20%)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Projeto final de implementação em HiL (50%)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53" y="1757976"/>
            <a:ext cx="3217925" cy="206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0" y="1409067"/>
            <a:ext cx="50227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bloco do Controlador Preditivo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m para Diagrama de bloco do PID"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4288" y="1778399"/>
            <a:ext cx="4363390" cy="18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5743977" y="1372755"/>
            <a:ext cx="47394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bloco do Controlador PID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250825" y="4806244"/>
            <a:ext cx="3330575" cy="1237786"/>
            <a:chOff x="521" y="2355"/>
            <a:chExt cx="3765" cy="1302"/>
          </a:xfrm>
        </p:grpSpPr>
        <p:pic>
          <p:nvPicPr>
            <p:cNvPr descr="circuito rlc2" id="145" name="Google Shape;1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7" y="2355"/>
              <a:ext cx="3468" cy="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1" y="2886"/>
              <a:ext cx="363" cy="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82" y="2931"/>
              <a:ext cx="363" cy="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87" y="2795"/>
              <a:ext cx="499" cy="3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assa-mola1" id="149" name="Google Shape;14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4450" y="4434074"/>
            <a:ext cx="1793371" cy="1839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tromecânico1" id="150" name="Google Shape;15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62910" y="4557432"/>
            <a:ext cx="3550271" cy="150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idx="1" type="body"/>
          </p:nvPr>
        </p:nvSpPr>
        <p:spPr>
          <a:xfrm>
            <a:off x="708660" y="2000250"/>
            <a:ext cx="3920490" cy="16541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32" r="0" t="-33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 </a:t>
            </a:r>
            <a:endParaRPr/>
          </a:p>
        </p:txBody>
      </p:sp>
      <p:sp>
        <p:nvSpPr>
          <p:cNvPr id="156" name="Google Shape;15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7" name="Google Shape;15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806190" y="1028700"/>
            <a:ext cx="60464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Predictive Control - MPC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2343" y="1833160"/>
            <a:ext cx="6030013" cy="128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0" y="3806614"/>
            <a:ext cx="6096000" cy="17620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0161" y="3654426"/>
            <a:ext cx="4165779" cy="267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server_bloco.tif" id="166" name="Google Shape;16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491" l="4452" r="15664" t="7734"/>
          <a:stretch/>
        </p:blipFill>
        <p:spPr>
          <a:xfrm>
            <a:off x="690000" y="1369063"/>
            <a:ext cx="6807300" cy="45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68" name="Google Shape;16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ef9152dcc_0_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4" name="Google Shape;174;g3cef9152dcc_0_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75" name="Google Shape;175;g3cef9152dcc_0_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6" name="Google Shape;176;g3cef9152dcc_0_48"/>
          <p:cNvSpPr/>
          <p:nvPr/>
        </p:nvSpPr>
        <p:spPr>
          <a:xfrm>
            <a:off x="793790" y="1785580"/>
            <a:ext cx="4961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900"/>
              <a:buFont typeface="Barlow"/>
              <a:buNone/>
            </a:pPr>
            <a:r>
              <a:rPr b="1" lang="pt-BR" sz="39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Exemplo</a:t>
            </a:r>
            <a:endParaRPr b="0" i="0" sz="3900" u="none" cap="none" strike="noStrike"/>
          </a:p>
        </p:txBody>
      </p:sp>
      <p:sp>
        <p:nvSpPr>
          <p:cNvPr id="177" name="Google Shape;177;g3cef9152dcc_0_48"/>
          <p:cNvSpPr/>
          <p:nvPr/>
        </p:nvSpPr>
        <p:spPr>
          <a:xfrm>
            <a:off x="129778" y="2881908"/>
            <a:ext cx="6955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Considere o circuito elétrico RLC mostrado na Figura 1, composto por um indutor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um resistor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um capacitor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com entrada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VE(t)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corrente de malha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i(t)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saída 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i="1" lang="pt-BR" sz="1550"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(t)</a:t>
            </a: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correspondente à tensão no capacitor.</a:t>
            </a:r>
            <a:endParaRPr b="0" i="0" sz="1550" u="none" cap="none" strike="noStrike"/>
          </a:p>
        </p:txBody>
      </p:sp>
      <p:sp>
        <p:nvSpPr>
          <p:cNvPr id="178" name="Google Shape;178;g3cef9152dcc_0_48"/>
          <p:cNvSpPr/>
          <p:nvPr/>
        </p:nvSpPr>
        <p:spPr>
          <a:xfrm>
            <a:off x="793790" y="4013121"/>
            <a:ext cx="6955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objetivo desta modelagem é obter:</a:t>
            </a:r>
            <a:endParaRPr b="0" i="0" sz="1550" u="none" cap="none" strike="noStrike"/>
          </a:p>
        </p:txBody>
      </p:sp>
      <p:sp>
        <p:nvSpPr>
          <p:cNvPr id="179" name="Google Shape;179;g3cef9152dcc_0_48"/>
          <p:cNvSpPr/>
          <p:nvPr/>
        </p:nvSpPr>
        <p:spPr>
          <a:xfrm>
            <a:off x="793800" y="4509250"/>
            <a:ext cx="45030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equação diferencial no domínio do tempo;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representação no domínio de Laplace;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função de transferência;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modelo em espaço de estados;</a:t>
            </a:r>
            <a:endParaRPr b="0" i="0" sz="1550" u="none" cap="none" strike="noStrike"/>
          </a:p>
        </p:txBody>
      </p:sp>
      <p:sp>
        <p:nvSpPr>
          <p:cNvPr id="180" name="Google Shape;180;g3cef9152dcc_0_48"/>
          <p:cNvSpPr/>
          <p:nvPr/>
        </p:nvSpPr>
        <p:spPr>
          <a:xfrm>
            <a:off x="7608825" y="4509251"/>
            <a:ext cx="450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0" i="1" lang="pt-BR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Figura 1: Circuito RLC série com saída no capacitor.</a:t>
            </a:r>
            <a:endParaRPr b="0" i="0" sz="1550" u="none" cap="none" strike="noStrike"/>
          </a:p>
        </p:txBody>
      </p:sp>
      <p:pic>
        <p:nvPicPr>
          <p:cNvPr id="181" name="Google Shape;181;g3cef9152dcc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275" y="2863675"/>
            <a:ext cx="474345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ef9152dcc_0_5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7" name="Google Shape;187;g3cef9152dcc_0_5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88" name="Google Shape;188;g3cef9152dcc_0_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9" name="Google Shape;189;g3cef9152dcc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000" y="1010850"/>
            <a:ext cx="8060676" cy="58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ef9152dcc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95" name="Google Shape;195;g3cef9152dcc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196" name="Google Shape;196;g3cef9152dcc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7" name="Google Shape;197;g3cef9152dcc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75" y="2051050"/>
            <a:ext cx="11887202" cy="39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ef9152dcc_0_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03" name="Google Shape;203;g3cef9152dcc_0_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204" name="Google Shape;204;g3cef9152dcc_0_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5" name="Google Shape;205;g3cef9152dcc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75" y="1490832"/>
            <a:ext cx="10788776" cy="34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ef9152dcc_0_8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11" name="Google Shape;211;g3cef9152dcc_0_8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212" name="Google Shape;212;g3cef9152dcc_0_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3" name="Google Shape;213;g3cef9152dcc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300" y="940675"/>
            <a:ext cx="8853501" cy="571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ef9152dcc_0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19" name="Google Shape;219;g3cef9152dcc_0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220" name="Google Shape;220;g3cef9152dcc_0_9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1" name="Google Shape;221;g3cef9152dcc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00" y="1117300"/>
            <a:ext cx="10677001" cy="50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ef9152dcc_0_9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27" name="Google Shape;227;g3cef9152dcc_0_9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228" name="Google Shape;228;g3cef9152dcc_0_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9" name="Google Shape;229;g3cef9152dcc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78" y="1870950"/>
            <a:ext cx="47434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cef9152dcc_0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75" y="4308725"/>
            <a:ext cx="3217925" cy="990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cef9152dcc_0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825" y="5357775"/>
            <a:ext cx="1076925" cy="3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cef9152dcc_0_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5728" y="2808450"/>
            <a:ext cx="6511472" cy="268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38" name="Google Shape;2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321694" y="1039860"/>
            <a:ext cx="485807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Prática: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Quartus II – Intel Corporation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ModelSim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VHDL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FPGA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4" y="4650911"/>
            <a:ext cx="3514825" cy="922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76" y="4767343"/>
            <a:ext cx="2300217" cy="6900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6"/>
          <p:cNvGrpSpPr/>
          <p:nvPr/>
        </p:nvGrpSpPr>
        <p:grpSpPr>
          <a:xfrm>
            <a:off x="7927850" y="4418530"/>
            <a:ext cx="3867150" cy="985340"/>
            <a:chOff x="8153400" y="3870206"/>
            <a:chExt cx="3867150" cy="985340"/>
          </a:xfrm>
        </p:grpSpPr>
        <p:pic>
          <p:nvPicPr>
            <p:cNvPr id="244" name="Google Shape;244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00702" y="3870206"/>
              <a:ext cx="1343025" cy="48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53400" y="4293571"/>
              <a:ext cx="3867150" cy="561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6" name="Google Shape;24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67284" y="1108715"/>
            <a:ext cx="7524465" cy="285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52" name="Google Shape;2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1634837" y="754811"/>
            <a:ext cx="10557163" cy="586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Tecnologia utilizada para desenvolver e testar MPC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772" y="1450657"/>
            <a:ext cx="9772456" cy="408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8792" y="1335430"/>
            <a:ext cx="7496831" cy="49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 txBox="1"/>
          <p:nvPr/>
        </p:nvSpPr>
        <p:spPr>
          <a:xfrm>
            <a:off x="1634837" y="754811"/>
            <a:ext cx="10557163" cy="586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Arquitetura básica de hardware desenvolvido em VHDL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68" name="Google Shape;26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269" name="Google Shape;26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609600" y="1381078"/>
            <a:ext cx="7772400" cy="2549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</a:t>
            </a: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Contem o seguintes pacotes: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std_logic_1164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std_logic_arith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std_logic_signed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std_logic_unsigned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76" name="Google Shape;2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277" name="Google Shape;2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1728383"/>
            <a:ext cx="9821052" cy="352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7127" y="703663"/>
            <a:ext cx="2366932" cy="154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285" name="Google Shape;2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286" name="Google Shape;28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268288" y="1730375"/>
            <a:ext cx="3540125" cy="284162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condition1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{sequence of statement(s)}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ELSIF 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condition2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{sequence of statement(s)}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{sequence of statement(s)}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6500813" y="1419225"/>
            <a:ext cx="4102431" cy="315277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PROCESS(sela, selb, a, b, 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IF sela=‘1’ THEN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q &lt;= 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ELSIF selb=‘1’ THEN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q &lt;=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ELSE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q &lt;=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IF;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PROCESS;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16"/>
          <p:cNvGrpSpPr/>
          <p:nvPr/>
        </p:nvGrpSpPr>
        <p:grpSpPr>
          <a:xfrm>
            <a:off x="4143376" y="4381501"/>
            <a:ext cx="3530600" cy="1852612"/>
            <a:chOff x="2271" y="3067"/>
            <a:chExt cx="2224" cy="1167"/>
          </a:xfrm>
        </p:grpSpPr>
        <p:grpSp>
          <p:nvGrpSpPr>
            <p:cNvPr id="290" name="Google Shape;290;p16"/>
            <p:cNvGrpSpPr/>
            <p:nvPr/>
          </p:nvGrpSpPr>
          <p:grpSpPr>
            <a:xfrm>
              <a:off x="2271" y="3067"/>
              <a:ext cx="1218" cy="980"/>
              <a:chOff x="2271" y="3067"/>
              <a:chExt cx="1218" cy="980"/>
            </a:xfrm>
          </p:grpSpPr>
          <p:sp>
            <p:nvSpPr>
              <p:cNvPr id="291" name="Google Shape;291;p16"/>
              <p:cNvSpPr/>
              <p:nvPr/>
            </p:nvSpPr>
            <p:spPr>
              <a:xfrm flipH="1" rot="-5400000">
                <a:off x="2711" y="3369"/>
                <a:ext cx="666" cy="272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387" y="21600"/>
                    </a:lnTo>
                    <a:lnTo>
                      <a:pt x="16213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" name="Google Shape;292;p16"/>
              <p:cNvCxnSpPr/>
              <p:nvPr/>
            </p:nvCxnSpPr>
            <p:spPr>
              <a:xfrm rot="10800000">
                <a:off x="2603" y="3329"/>
                <a:ext cx="29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16"/>
              <p:cNvCxnSpPr/>
              <p:nvPr/>
            </p:nvCxnSpPr>
            <p:spPr>
              <a:xfrm rot="10800000">
                <a:off x="2603" y="3686"/>
                <a:ext cx="29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16"/>
              <p:cNvCxnSpPr/>
              <p:nvPr/>
            </p:nvCxnSpPr>
            <p:spPr>
              <a:xfrm>
                <a:off x="3039" y="3778"/>
                <a:ext cx="0" cy="2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16"/>
              <p:cNvCxnSpPr/>
              <p:nvPr/>
            </p:nvCxnSpPr>
            <p:spPr>
              <a:xfrm rot="10800000">
                <a:off x="2604" y="3977"/>
                <a:ext cx="4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6" name="Google Shape;296;p16"/>
              <p:cNvSpPr/>
              <p:nvPr/>
            </p:nvSpPr>
            <p:spPr>
              <a:xfrm>
                <a:off x="2431" y="3067"/>
                <a:ext cx="282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1425" lIns="144450" spcFirstLastPara="1" rIns="144450" wrap="square" tIns="7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pt-BR" sz="25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2431" y="3407"/>
                <a:ext cx="293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1425" lIns="144450" spcFirstLastPara="1" rIns="144450" wrap="square" tIns="7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pt-BR" sz="25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2271" y="3717"/>
                <a:ext cx="548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1425" lIns="144450" spcFirstLastPara="1" rIns="144450" wrap="square" tIns="7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pt-BR" sz="25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9" name="Google Shape;299;p16"/>
              <p:cNvCxnSpPr/>
              <p:nvPr/>
            </p:nvCxnSpPr>
            <p:spPr>
              <a:xfrm rot="10800000">
                <a:off x="3195" y="3517"/>
                <a:ext cx="29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00" name="Google Shape;300;p16"/>
            <p:cNvSpPr/>
            <p:nvPr/>
          </p:nvSpPr>
          <p:spPr>
            <a:xfrm flipH="1" rot="-5400000">
              <a:off x="3611" y="3557"/>
              <a:ext cx="666" cy="272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387" y="21600"/>
                  </a:lnTo>
                  <a:lnTo>
                    <a:pt x="16213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1" name="Google Shape;301;p16"/>
            <p:cNvCxnSpPr/>
            <p:nvPr/>
          </p:nvCxnSpPr>
          <p:spPr>
            <a:xfrm rot="10800000">
              <a:off x="3503" y="3517"/>
              <a:ext cx="2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6"/>
            <p:cNvCxnSpPr/>
            <p:nvPr/>
          </p:nvCxnSpPr>
          <p:spPr>
            <a:xfrm rot="10800000">
              <a:off x="3503" y="3873"/>
              <a:ext cx="2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6"/>
            <p:cNvCxnSpPr/>
            <p:nvPr/>
          </p:nvCxnSpPr>
          <p:spPr>
            <a:xfrm>
              <a:off x="3939" y="3965"/>
              <a:ext cx="0" cy="2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16"/>
            <p:cNvCxnSpPr/>
            <p:nvPr/>
          </p:nvCxnSpPr>
          <p:spPr>
            <a:xfrm rot="10800000">
              <a:off x="3504" y="4164"/>
              <a:ext cx="4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5" name="Google Shape;305;p16"/>
            <p:cNvSpPr/>
            <p:nvPr/>
          </p:nvSpPr>
          <p:spPr>
            <a:xfrm>
              <a:off x="3331" y="3256"/>
              <a:ext cx="181" cy="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3331" y="3597"/>
              <a:ext cx="29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3171" y="3904"/>
              <a:ext cx="54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8" name="Google Shape;308;p16"/>
            <p:cNvCxnSpPr/>
            <p:nvPr/>
          </p:nvCxnSpPr>
          <p:spPr>
            <a:xfrm rot="10800000">
              <a:off x="4095" y="3704"/>
              <a:ext cx="2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9" name="Google Shape;309;p16"/>
            <p:cNvSpPr/>
            <p:nvPr/>
          </p:nvSpPr>
          <p:spPr>
            <a:xfrm>
              <a:off x="4202" y="3438"/>
              <a:ext cx="29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16"/>
          <p:cNvSpPr txBox="1"/>
          <p:nvPr/>
        </p:nvSpPr>
        <p:spPr>
          <a:xfrm>
            <a:off x="268288" y="1173707"/>
            <a:ext cx="4745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6583363" y="941696"/>
            <a:ext cx="35432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317" name="Google Shape;3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18" name="Google Shape;3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99908" y="1878582"/>
            <a:ext cx="5203348" cy="203812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signal_name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&lt;=  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signal/value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condition1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signal/value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condition2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signal/value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condition3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signal/value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6927448" y="2300857"/>
            <a:ext cx="449262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&lt;=    a WHEN sela = ‘1’ ELSE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b WHEN selb = ‘1’ ELSE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7"/>
          <p:cNvGrpSpPr/>
          <p:nvPr/>
        </p:nvGrpSpPr>
        <p:grpSpPr>
          <a:xfrm>
            <a:off x="4941888" y="4241007"/>
            <a:ext cx="3530600" cy="1852612"/>
            <a:chOff x="4843463" y="3802063"/>
            <a:chExt cx="3530600" cy="1852612"/>
          </a:xfrm>
        </p:grpSpPr>
        <p:sp>
          <p:nvSpPr>
            <p:cNvPr id="322" name="Google Shape;322;p17"/>
            <p:cNvSpPr/>
            <p:nvPr/>
          </p:nvSpPr>
          <p:spPr>
            <a:xfrm flipH="1" rot="-5400000">
              <a:off x="5541962" y="4281488"/>
              <a:ext cx="1057275" cy="4318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387" y="21600"/>
                  </a:lnTo>
                  <a:lnTo>
                    <a:pt x="16213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3" name="Google Shape;323;p17"/>
            <p:cNvCxnSpPr/>
            <p:nvPr/>
          </p:nvCxnSpPr>
          <p:spPr>
            <a:xfrm rot="10800000">
              <a:off x="5370513" y="4217988"/>
              <a:ext cx="46672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17"/>
            <p:cNvCxnSpPr/>
            <p:nvPr/>
          </p:nvCxnSpPr>
          <p:spPr>
            <a:xfrm rot="10800000">
              <a:off x="5370513" y="4784725"/>
              <a:ext cx="46672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17"/>
            <p:cNvCxnSpPr/>
            <p:nvPr/>
          </p:nvCxnSpPr>
          <p:spPr>
            <a:xfrm>
              <a:off x="6062663" y="4930775"/>
              <a:ext cx="0" cy="317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6" name="Google Shape;326;p17"/>
            <p:cNvSpPr/>
            <p:nvPr/>
          </p:nvSpPr>
          <p:spPr>
            <a:xfrm>
              <a:off x="5097463" y="3802063"/>
              <a:ext cx="447675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5097463" y="4341813"/>
              <a:ext cx="465137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4843463" y="4833938"/>
              <a:ext cx="8699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7"/>
            <p:cNvSpPr/>
            <p:nvPr/>
          </p:nvSpPr>
          <p:spPr>
            <a:xfrm flipH="1" rot="-5400000">
              <a:off x="6970712" y="4579938"/>
              <a:ext cx="1057275" cy="4318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387" y="21600"/>
                  </a:lnTo>
                  <a:lnTo>
                    <a:pt x="16213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0" name="Google Shape;330;p17"/>
            <p:cNvCxnSpPr/>
            <p:nvPr/>
          </p:nvCxnSpPr>
          <p:spPr>
            <a:xfrm rot="10800000">
              <a:off x="6799263" y="5081588"/>
              <a:ext cx="46672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17"/>
            <p:cNvCxnSpPr/>
            <p:nvPr/>
          </p:nvCxnSpPr>
          <p:spPr>
            <a:xfrm>
              <a:off x="7491413" y="5227638"/>
              <a:ext cx="0" cy="317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17"/>
            <p:cNvCxnSpPr/>
            <p:nvPr/>
          </p:nvCxnSpPr>
          <p:spPr>
            <a:xfrm rot="10800000">
              <a:off x="6800850" y="5543550"/>
              <a:ext cx="69215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17"/>
            <p:cNvSpPr/>
            <p:nvPr/>
          </p:nvSpPr>
          <p:spPr>
            <a:xfrm>
              <a:off x="6526213" y="4643438"/>
              <a:ext cx="465137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6272213" y="5130800"/>
              <a:ext cx="8699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5" name="Google Shape;335;p17"/>
            <p:cNvCxnSpPr/>
            <p:nvPr/>
          </p:nvCxnSpPr>
          <p:spPr>
            <a:xfrm rot="10800000">
              <a:off x="7739063" y="4813300"/>
              <a:ext cx="46672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6" name="Google Shape;336;p17"/>
            <p:cNvSpPr/>
            <p:nvPr/>
          </p:nvSpPr>
          <p:spPr>
            <a:xfrm>
              <a:off x="7908925" y="4391025"/>
              <a:ext cx="465138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425" lIns="144450" spcFirstLastPara="1" rIns="144450" wrap="square" tIns="7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t-B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" name="Google Shape;337;p17"/>
            <p:cNvCxnSpPr/>
            <p:nvPr/>
          </p:nvCxnSpPr>
          <p:spPr>
            <a:xfrm>
              <a:off x="6286500" y="4445000"/>
              <a:ext cx="100012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" name="Google Shape;338;p17"/>
            <p:cNvCxnSpPr/>
            <p:nvPr/>
          </p:nvCxnSpPr>
          <p:spPr>
            <a:xfrm rot="10800000">
              <a:off x="5476875" y="5238750"/>
              <a:ext cx="58737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9" name="Google Shape;339;p17"/>
          <p:cNvSpPr txBox="1"/>
          <p:nvPr/>
        </p:nvSpPr>
        <p:spPr>
          <a:xfrm>
            <a:off x="1446663" y="1378424"/>
            <a:ext cx="34952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7687173" y="1609256"/>
            <a:ext cx="37329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346" name="Google Shape;34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347" name="Google Shape;34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8" name="Google Shape;3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5" y="1881601"/>
            <a:ext cx="5806180" cy="23337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8"/>
          <p:cNvSpPr txBox="1"/>
          <p:nvPr/>
        </p:nvSpPr>
        <p:spPr>
          <a:xfrm>
            <a:off x="177421" y="1173707"/>
            <a:ext cx="118599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Descrever em VHDL o comportamento do circuito abaixo. Simule o funcionamento do hardware no ModelSim.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3500" y="3765600"/>
            <a:ext cx="5538846" cy="233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f05c52455_0_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56" name="Google Shape;356;g3cf05c52455_0_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57" name="Google Shape;357;g3cf05c52455_0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8" name="Google Shape;358;g3cf05c52455_0_9"/>
          <p:cNvSpPr txBox="1"/>
          <p:nvPr/>
        </p:nvSpPr>
        <p:spPr>
          <a:xfrm>
            <a:off x="2162907" y="1204547"/>
            <a:ext cx="7631700" cy="5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Quartus II;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New Project;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uma pasta para armazenar o projeto;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Atribua um nome ao projeto (evite caracteres especiais);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dispositivo;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Conclua;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New;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Block Diagram;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Mona o circuito lógico utilizando a biblioteca de dispositivos;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montar o circuito salve o arquivo com o mesmo nome atribuído no item 4;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compilation o projeto;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100%;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 o respectivo projeto em VHDL – CreateHDL.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05c52455_0_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64" name="Google Shape;364;g3cf05c52455_0_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65" name="Google Shape;365;g3cf05c52455_0_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6" name="Google Shape;366;g3cf05c5245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451" y="1426552"/>
            <a:ext cx="10845347" cy="4234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f05c52455_0_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72" name="Google Shape;372;g3cf05c52455_0_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73" name="Google Shape;373;g3cf05c52455_0_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4" name="Google Shape;374;g3cf05c52455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720" y="1134575"/>
            <a:ext cx="8316669" cy="49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f05c52455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80" name="Google Shape;380;g3cf05c52455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81" name="Google Shape;381;g3cf05c52455_0_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2" name="Google Shape;382;g3cf05c52455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5353" y="1157287"/>
            <a:ext cx="9001492" cy="5193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f05c52455_0_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88" name="Google Shape;388;g3cf05c52455_0_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389" name="Google Shape;389;g3cf05c52455_0_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0" name="Google Shape;390;g3cf05c52455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081" y="1145241"/>
            <a:ext cx="9404535" cy="5038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cf05c52455_0_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396" name="Google Shape;396;g3cf05c52455_0_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7" name="Google Shape;397;g3cf05c52455_0_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8" name="Google Shape;398;g3cf05c52455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702" y="1149858"/>
            <a:ext cx="8885747" cy="520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f05c52455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404" name="Google Shape;404;g3cf05c52455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405" name="Google Shape;405;g3cf05c52455_0_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6" name="Google Shape;406;g3cf05c52455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628" y="1146362"/>
            <a:ext cx="8977748" cy="511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f05c52455_0_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09/03/2022</a:t>
            </a:r>
            <a:endParaRPr/>
          </a:p>
        </p:txBody>
      </p:sp>
      <p:sp>
        <p:nvSpPr>
          <p:cNvPr id="412" name="Google Shape;412;g3cf05c52455_0_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pt-BR"/>
              <a:t>Prof. Dr. Edson A. Batista</a:t>
            </a:r>
            <a:endParaRPr/>
          </a:p>
        </p:txBody>
      </p:sp>
      <p:sp>
        <p:nvSpPr>
          <p:cNvPr id="413" name="Google Shape;413;g3cf05c52455_0_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4" name="Google Shape;414;g3cf05c52455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835" y="1004794"/>
            <a:ext cx="8807825" cy="518626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cf05c52455_0_58"/>
          <p:cNvSpPr/>
          <p:nvPr/>
        </p:nvSpPr>
        <p:spPr>
          <a:xfrm>
            <a:off x="7708607" y="4139100"/>
            <a:ext cx="856500" cy="22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f05c52455_0_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421" name="Google Shape;421;g3cf05c52455_0_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422" name="Google Shape;422;g3cf05c52455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23" name="Google Shape;423;g3cf05c5245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891" y="1118235"/>
            <a:ext cx="6379759" cy="488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429" name="Google Shape;4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430" name="Google Shape;4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1" name="Google Shape;4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18150"/>
            <a:ext cx="11887199" cy="274801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 txBox="1"/>
          <p:nvPr/>
        </p:nvSpPr>
        <p:spPr>
          <a:xfrm>
            <a:off x="1055650" y="1450575"/>
            <a:ext cx="84300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/>
              <a:t>Simular no ModelSim</a:t>
            </a:r>
            <a:endParaRPr sz="2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438" name="Google Shape;4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177421" y="1173707"/>
            <a:ext cx="118599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Descrever em VHDL o comportamento do Flip Flop D. Simule o funcionamento do hardware no ModelSim.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20"/>
          <p:cNvGrpSpPr/>
          <p:nvPr/>
        </p:nvGrpSpPr>
        <p:grpSpPr>
          <a:xfrm>
            <a:off x="668740" y="2027238"/>
            <a:ext cx="2740025" cy="1892300"/>
            <a:chOff x="3421" y="916"/>
            <a:chExt cx="1726" cy="1192"/>
          </a:xfrm>
        </p:grpSpPr>
        <p:grpSp>
          <p:nvGrpSpPr>
            <p:cNvPr id="442" name="Google Shape;442;p20"/>
            <p:cNvGrpSpPr/>
            <p:nvPr/>
          </p:nvGrpSpPr>
          <p:grpSpPr>
            <a:xfrm>
              <a:off x="4059" y="1053"/>
              <a:ext cx="578" cy="887"/>
              <a:chOff x="4059" y="1053"/>
              <a:chExt cx="578" cy="887"/>
            </a:xfrm>
          </p:grpSpPr>
          <p:sp>
            <p:nvSpPr>
              <p:cNvPr id="443" name="Google Shape;443;p20"/>
              <p:cNvSpPr/>
              <p:nvPr/>
            </p:nvSpPr>
            <p:spPr>
              <a:xfrm>
                <a:off x="4105" y="1053"/>
                <a:ext cx="532" cy="835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 rot="5400000">
                <a:off x="4083" y="1464"/>
                <a:ext cx="122" cy="78"/>
              </a:xfrm>
              <a:prstGeom prst="triangle">
                <a:avLst>
                  <a:gd fmla="val 49940" name="adj"/>
                </a:avLst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4338" y="1896"/>
                <a:ext cx="44" cy="4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4145" y="1736"/>
                <a:ext cx="388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CLRN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4059" y="1599"/>
                <a:ext cx="345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4102" y="1080"/>
                <a:ext cx="129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4524" y="1080"/>
                <a:ext cx="104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20"/>
            <p:cNvSpPr/>
            <p:nvPr/>
          </p:nvSpPr>
          <p:spPr>
            <a:xfrm>
              <a:off x="3796" y="916"/>
              <a:ext cx="1144" cy="119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1" name="Google Shape;451;p20"/>
            <p:cNvCxnSpPr/>
            <p:nvPr/>
          </p:nvCxnSpPr>
          <p:spPr>
            <a:xfrm rot="10800000">
              <a:off x="3803" y="1507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0"/>
            <p:cNvCxnSpPr/>
            <p:nvPr/>
          </p:nvCxnSpPr>
          <p:spPr>
            <a:xfrm rot="10800000">
              <a:off x="3796" y="1173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0"/>
            <p:cNvCxnSpPr/>
            <p:nvPr/>
          </p:nvCxnSpPr>
          <p:spPr>
            <a:xfrm rot="10800000">
              <a:off x="4657" y="1162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4" name="Google Shape;454;p20"/>
            <p:cNvSpPr/>
            <p:nvPr/>
          </p:nvSpPr>
          <p:spPr>
            <a:xfrm>
              <a:off x="3523" y="1062"/>
              <a:ext cx="21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3421" y="1379"/>
              <a:ext cx="33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3425" y="1848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4933" y="1027"/>
              <a:ext cx="21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8" name="Google Shape;4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8850" y="1695985"/>
            <a:ext cx="3574300" cy="180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8850" y="3705225"/>
            <a:ext cx="5236587" cy="217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5934" y="2457921"/>
            <a:ext cx="2366932" cy="15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375600" y="4695050"/>
            <a:ext cx="357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force CLK 0 0, 1 50 -r 100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467" name="Google Shape;46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Prof. Dr. Edson A. Batista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69" name="Google Shape;469;p21"/>
          <p:cNvGrpSpPr/>
          <p:nvPr/>
        </p:nvGrpSpPr>
        <p:grpSpPr>
          <a:xfrm>
            <a:off x="668740" y="2027238"/>
            <a:ext cx="2740025" cy="1892300"/>
            <a:chOff x="3421" y="916"/>
            <a:chExt cx="1726" cy="1192"/>
          </a:xfrm>
        </p:grpSpPr>
        <p:grpSp>
          <p:nvGrpSpPr>
            <p:cNvPr id="470" name="Google Shape;470;p21"/>
            <p:cNvGrpSpPr/>
            <p:nvPr/>
          </p:nvGrpSpPr>
          <p:grpSpPr>
            <a:xfrm>
              <a:off x="4059" y="1053"/>
              <a:ext cx="578" cy="887"/>
              <a:chOff x="4059" y="1053"/>
              <a:chExt cx="578" cy="887"/>
            </a:xfrm>
          </p:grpSpPr>
          <p:sp>
            <p:nvSpPr>
              <p:cNvPr id="471" name="Google Shape;471;p21"/>
              <p:cNvSpPr/>
              <p:nvPr/>
            </p:nvSpPr>
            <p:spPr>
              <a:xfrm>
                <a:off x="4105" y="1053"/>
                <a:ext cx="532" cy="835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1"/>
              <p:cNvSpPr/>
              <p:nvPr/>
            </p:nvSpPr>
            <p:spPr>
              <a:xfrm rot="5400000">
                <a:off x="4083" y="1464"/>
                <a:ext cx="122" cy="78"/>
              </a:xfrm>
              <a:prstGeom prst="triangle">
                <a:avLst>
                  <a:gd fmla="val 49940" name="adj"/>
                </a:avLst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1"/>
              <p:cNvSpPr/>
              <p:nvPr/>
            </p:nvSpPr>
            <p:spPr>
              <a:xfrm>
                <a:off x="4338" y="1896"/>
                <a:ext cx="44" cy="4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1"/>
              <p:cNvSpPr/>
              <p:nvPr/>
            </p:nvSpPr>
            <p:spPr>
              <a:xfrm>
                <a:off x="4145" y="1736"/>
                <a:ext cx="388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CLRN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1"/>
              <p:cNvSpPr/>
              <p:nvPr/>
            </p:nvSpPr>
            <p:spPr>
              <a:xfrm>
                <a:off x="4059" y="1599"/>
                <a:ext cx="345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1"/>
              <p:cNvSpPr/>
              <p:nvPr/>
            </p:nvSpPr>
            <p:spPr>
              <a:xfrm>
                <a:off x="4102" y="1080"/>
                <a:ext cx="129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1"/>
              <p:cNvSpPr/>
              <p:nvPr/>
            </p:nvSpPr>
            <p:spPr>
              <a:xfrm>
                <a:off x="4524" y="1080"/>
                <a:ext cx="104" cy="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1275" lIns="82550" spcFirstLastPara="1" rIns="82550" wrap="square" tIns="41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pt-BR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" name="Google Shape;478;p21"/>
            <p:cNvSpPr/>
            <p:nvPr/>
          </p:nvSpPr>
          <p:spPr>
            <a:xfrm>
              <a:off x="3796" y="916"/>
              <a:ext cx="1144" cy="119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9" name="Google Shape;479;p21"/>
            <p:cNvCxnSpPr/>
            <p:nvPr/>
          </p:nvCxnSpPr>
          <p:spPr>
            <a:xfrm rot="10800000">
              <a:off x="3803" y="1507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21"/>
            <p:cNvCxnSpPr/>
            <p:nvPr/>
          </p:nvCxnSpPr>
          <p:spPr>
            <a:xfrm rot="10800000">
              <a:off x="3796" y="1173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21"/>
            <p:cNvCxnSpPr/>
            <p:nvPr/>
          </p:nvCxnSpPr>
          <p:spPr>
            <a:xfrm rot="10800000">
              <a:off x="4657" y="1162"/>
              <a:ext cx="29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2" name="Google Shape;482;p21"/>
            <p:cNvSpPr/>
            <p:nvPr/>
          </p:nvSpPr>
          <p:spPr>
            <a:xfrm>
              <a:off x="3523" y="1062"/>
              <a:ext cx="21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421" y="1379"/>
              <a:ext cx="33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425" y="1848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4933" y="1027"/>
              <a:ext cx="21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6" name="Google Shape;4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1110" y="2027238"/>
            <a:ext cx="8157850" cy="339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1"/>
          <p:cNvSpPr txBox="1"/>
          <p:nvPr/>
        </p:nvSpPr>
        <p:spPr>
          <a:xfrm>
            <a:off x="177421" y="1173707"/>
            <a:ext cx="118599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Descrever em VHDL o comportamento do Flip Flop D. Simule o funcionamento do hardware no ModelSim.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Introdução Matrix Math Package</a:t>
            </a:r>
            <a:endParaRPr/>
          </a:p>
        </p:txBody>
      </p:sp>
      <p:sp>
        <p:nvSpPr>
          <p:cNvPr id="493" name="Google Shape;49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494" name="Google Shape;49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5" name="Google Shape;49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496" name="Google Shape;496;p22"/>
          <p:cNvSpPr txBox="1"/>
          <p:nvPr/>
        </p:nvSpPr>
        <p:spPr>
          <a:xfrm>
            <a:off x="838200" y="3814119"/>
            <a:ext cx="10515600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VHDL matrix math packages can be downloaded at: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http://www.vhdl.org/fphdl/real_matrix_pkg.zip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4942703" y="5226664"/>
            <a:ext cx="3319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David Bishop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"/>
          <p:cNvSpPr txBox="1"/>
          <p:nvPr/>
        </p:nvSpPr>
        <p:spPr>
          <a:xfrm>
            <a:off x="1005840" y="1058049"/>
            <a:ext cx="111861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biblioteca  VHDL matrix é baseada na funcionalidade das operações realizadas no Matlab.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habilitar a biblioteca deve-se  executar os seguintes procedimentos.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375998" y="1981379"/>
            <a:ext cx="9771017" cy="4570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vlib ieee_proposed.lib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vmap ieee_proposed ./ieee_proposed.lib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real_matrix_pkg.vhdl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real_matrix_pkg_body.vhdl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complex_matrix_pkg.vhdl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complex_matrix_pkg_body.vhdl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fixed_matrix_pkg.vhdl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-2008 -work ieee_proposed fixed_matrix_pkg_body.vhdl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vlib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vmap work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test_real_matrix.vhdl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test_complex_matrix.vhdl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-2008 test_fixed_matrix.vhdl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05" name="Google Shape;50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6" name="Google Shape;50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grpSp>
        <p:nvGrpSpPr>
          <p:cNvPr id="507" name="Google Shape;507;p23"/>
          <p:cNvGrpSpPr/>
          <p:nvPr/>
        </p:nvGrpSpPr>
        <p:grpSpPr>
          <a:xfrm>
            <a:off x="7529945" y="2858661"/>
            <a:ext cx="3823855" cy="2652677"/>
            <a:chOff x="7529945" y="2858661"/>
            <a:chExt cx="3823855" cy="2652677"/>
          </a:xfrm>
        </p:grpSpPr>
        <p:graphicFrame>
          <p:nvGraphicFramePr>
            <p:cNvPr id="508" name="Google Shape;508;p23"/>
            <p:cNvGraphicFramePr/>
            <p:nvPr/>
          </p:nvGraphicFramePr>
          <p:xfrm>
            <a:off x="7590155" y="4268516"/>
            <a:ext cx="3413925" cy="1242822"/>
          </p:xfrm>
          <a:graphic>
            <a:graphicData uri="http://schemas.openxmlformats.org/presentationml/2006/ole">
              <mc:AlternateContent>
                <mc:Choice Requires="v">
                  <p:oleObj r:id="rId4" imgH="1242822" imgW="3413925" progId="Package" spid="_x0000_s1">
                    <p:embed/>
                  </p:oleObj>
                </mc:Choice>
                <mc:Fallback>
                  <p:oleObj r:id="rId5" imgH="1242822" imgW="3413925" progId="Package">
                    <p:embed/>
                    <p:pic>
                      <p:nvPicPr>
                        <p:cNvPr id="508" name="Google Shape;508;p23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7590155" y="4268516"/>
                          <a:ext cx="3413925" cy="12428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9" name="Google Shape;509;p23"/>
            <p:cNvSpPr txBox="1"/>
            <p:nvPr/>
          </p:nvSpPr>
          <p:spPr>
            <a:xfrm>
              <a:off x="7529945" y="2858661"/>
              <a:ext cx="38238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Descompactar a biblioteca da Altera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8969433" y="3227993"/>
              <a:ext cx="631767" cy="103862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Google Shape;515;p24"/>
          <p:cNvGraphicFramePr/>
          <p:nvPr/>
        </p:nvGraphicFramePr>
        <p:xfrm>
          <a:off x="149769" y="17523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{DA54EAE8-90E3-4B85-84C9-B66E9A6B7BBD}</a:tableStyleId>
              </a:tblPr>
              <a:tblGrid>
                <a:gridCol w="2205950"/>
                <a:gridCol w="4484650"/>
                <a:gridCol w="4951900"/>
              </a:tblGrid>
              <a:tr h="75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Operadores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Função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exemplo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*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Multiplicação entre matrizes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real_matrix * real_matrix returna real_matrix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Soma de matrizes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real_matrix + real_matrix returna real_matrix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-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Subtração entre matrizes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real_matrix - real_matrix returna real_matrix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/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Divisão entre matrizes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real_matrix / real_matrix returna real_matrix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**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Matriz elevada a um inteiro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real_matrix ** integer returna real_matrix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Gera igualdade caso as dimensões sejam respeitadas.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real_vector = real_matrix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real_vector /= real_matrix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abs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 de uma matriz e/ou vetor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Retorna o valor absoluto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16" name="Google Shape;5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17" name="Google Shape;51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8" name="Google Shape;51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3" name="Google Shape;523;p25"/>
          <p:cNvGraphicFramePr/>
          <p:nvPr/>
        </p:nvGraphicFramePr>
        <p:xfrm>
          <a:off x="1859209" y="1164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{DA54EAE8-90E3-4B85-84C9-B66E9A6B7BBD}</a:tableStyleId>
              </a:tblPr>
              <a:tblGrid>
                <a:gridCol w="1793025"/>
                <a:gridCol w="7701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Função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Descrição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Sqrt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Extrai a raízes quadrada de cada elemento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Exponencial de elemento por elemento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Realiza o logaritmo de elemento por elemento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Calcula o determinante da matrix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Realiza a operação inversa de cada matriz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Transpose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Encontra a transposta da matriz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Zeros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Cria uma matriz de zeros. </a:t>
                      </a: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Zeros (rows, columns)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Ones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Gera uma matriz com número 1. </a:t>
                      </a: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Ones (rows, columns)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eye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Monta uma matriz identidade. </a:t>
                      </a: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eye (rows, columns)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Gera uma matriz a partir de outra matriz. submatrix (arg, x, y, rows, columns).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buildmatrix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Comando utilizado para construir uma matriz. </a:t>
                      </a: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buildmatrix (arg, result, x, y)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InsertColumn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Inseri um vetor coluna em uma matriz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Retorna o tamanho da matriz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24" name="Google Shape;5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25" name="Google Shape;52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6" name="Google Shape;52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32" name="Google Shape;5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3" name="Google Shape;53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pic>
        <p:nvPicPr>
          <p:cNvPr id="534" name="Google Shape;5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092" y="1547169"/>
            <a:ext cx="47148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"/>
          <p:cNvSpPr txBox="1"/>
          <p:nvPr/>
        </p:nvSpPr>
        <p:spPr>
          <a:xfrm>
            <a:off x="642257" y="1798738"/>
            <a:ext cx="10915429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Dadas as matrizes a e b  desenvolva um hardware em VDHL que realize a multiplicação entre estas matrizes quando o hardware for habilitado (rst = 0). Verifique o resultado desta multiplicação através de ferramenta de simulação.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642257" y="4278288"/>
            <a:ext cx="2135172" cy="13606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54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7"/>
          <p:cNvSpPr txBox="1"/>
          <p:nvPr/>
        </p:nvSpPr>
        <p:spPr>
          <a:xfrm>
            <a:off x="2315385" y="4567893"/>
            <a:ext cx="3586244" cy="6572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642257" y="1331701"/>
            <a:ext cx="55894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44" name="Google Shape;5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5" name="Google Shape;54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546" name="Google Shape;546;p27"/>
          <p:cNvSpPr txBox="1"/>
          <p:nvPr/>
        </p:nvSpPr>
        <p:spPr>
          <a:xfrm>
            <a:off x="574588" y="3399787"/>
            <a:ext cx="6641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Observação: Quando rst = 1, carrega os valores das matrizes.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8"/>
          <p:cNvSpPr txBox="1"/>
          <p:nvPr/>
        </p:nvSpPr>
        <p:spPr>
          <a:xfrm>
            <a:off x="736619" y="2191893"/>
            <a:ext cx="5857916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quit -sim -- sai da 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vcom top.vhd -- compila o arquivo top.vhd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vsim work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.top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-- simula a entidade 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wave -- adiciona para as formas de ondas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force -- force um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-- roda 1000ps a 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simula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53" name="Google Shape;5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4" name="Google Shape;55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555" name="Google Shape;555;p28"/>
          <p:cNvSpPr txBox="1"/>
          <p:nvPr/>
        </p:nvSpPr>
        <p:spPr>
          <a:xfrm>
            <a:off x="642256" y="1331701"/>
            <a:ext cx="8089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Gerar arquivo de simulação - ModelSim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61" name="Google Shape;56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562" name="Google Shape;56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3" name="Google Shape;563;p29"/>
          <p:cNvSpPr txBox="1"/>
          <p:nvPr/>
        </p:nvSpPr>
        <p:spPr>
          <a:xfrm>
            <a:off x="304625" y="1537857"/>
            <a:ext cx="55894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9"/>
          <p:cNvSpPr txBox="1"/>
          <p:nvPr/>
        </p:nvSpPr>
        <p:spPr>
          <a:xfrm>
            <a:off x="348633" y="1799467"/>
            <a:ext cx="10711543" cy="119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Dada a matriz </a:t>
            </a:r>
            <a:r>
              <a:rPr b="0" i="0" lang="pt-BR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0" i="0" lang="pt-B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= 1.5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desenvolva um hardware em VHDL que realize as operações indicadas em a) e b), quando o hardware estiver habilitado (rst = 1). Verifique os resultados através do ModelSim.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9"/>
          <p:cNvSpPr txBox="1"/>
          <p:nvPr/>
        </p:nvSpPr>
        <p:spPr>
          <a:xfrm>
            <a:off x="966988" y="4218329"/>
            <a:ext cx="5228823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320" l="-932" r="0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9"/>
          <p:cNvSpPr txBox="1"/>
          <p:nvPr/>
        </p:nvSpPr>
        <p:spPr>
          <a:xfrm>
            <a:off x="5343400" y="3423150"/>
            <a:ext cx="2286652" cy="8803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39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0"/>
          <p:cNvSpPr txBox="1"/>
          <p:nvPr/>
        </p:nvSpPr>
        <p:spPr>
          <a:xfrm>
            <a:off x="221285" y="984565"/>
            <a:ext cx="5589431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Dadas as matrizes A e C determine a matriz 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 txBox="1"/>
          <p:nvPr/>
        </p:nvSpPr>
        <p:spPr>
          <a:xfrm>
            <a:off x="194435" y="2939488"/>
            <a:ext cx="11626082" cy="28161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1" l="-1100" r="-41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0"/>
          <p:cNvSpPr txBox="1"/>
          <p:nvPr/>
        </p:nvSpPr>
        <p:spPr>
          <a:xfrm>
            <a:off x="3902961" y="5772536"/>
            <a:ext cx="1562287" cy="467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 txBox="1"/>
          <p:nvPr/>
        </p:nvSpPr>
        <p:spPr>
          <a:xfrm>
            <a:off x="7268360" y="5779911"/>
            <a:ext cx="1037272" cy="4601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76" name="Google Shape;57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7" name="Google Shape;57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4760981" y="1998123"/>
            <a:ext cx="1246495" cy="5542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0"/>
          <p:cNvSpPr txBox="1"/>
          <p:nvPr/>
        </p:nvSpPr>
        <p:spPr>
          <a:xfrm>
            <a:off x="319855" y="2025168"/>
            <a:ext cx="1510991" cy="4657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0"/>
          <p:cNvSpPr txBox="1"/>
          <p:nvPr/>
        </p:nvSpPr>
        <p:spPr>
          <a:xfrm>
            <a:off x="2264095" y="2136751"/>
            <a:ext cx="1503810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1109" l="-32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1"/>
          <p:cNvSpPr txBox="1"/>
          <p:nvPr/>
        </p:nvSpPr>
        <p:spPr>
          <a:xfrm>
            <a:off x="391298" y="1461222"/>
            <a:ext cx="11277600" cy="198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5: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Dada a matriz A, encontre a inversa desta matriz caso o determinante seja diferente de zero. O hardware deverá enviar a mensagem “Gera” caso exista a inversa de A, caso contrário deve ser enviada a mensagem “Erro”.  Em ambos os casos o hardware deverá informar o valor do determinante.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1"/>
          <p:cNvSpPr txBox="1"/>
          <p:nvPr/>
        </p:nvSpPr>
        <p:spPr>
          <a:xfrm>
            <a:off x="4483940" y="3595908"/>
            <a:ext cx="2331216" cy="73257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 txBox="1"/>
          <p:nvPr/>
        </p:nvSpPr>
        <p:spPr>
          <a:xfrm>
            <a:off x="391298" y="4606797"/>
            <a:ext cx="4683210" cy="1102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6: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 ao exercício 5.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1"/>
          <p:cNvSpPr txBox="1"/>
          <p:nvPr/>
        </p:nvSpPr>
        <p:spPr>
          <a:xfrm>
            <a:off x="2713694" y="5746190"/>
            <a:ext cx="1735411" cy="46570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590" name="Google Shape;59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1" name="Google Shape;59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 txBox="1"/>
          <p:nvPr/>
        </p:nvSpPr>
        <p:spPr>
          <a:xfrm>
            <a:off x="195649" y="1326028"/>
            <a:ext cx="10741572" cy="24006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70" l="-1134" r="-5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 txBox="1"/>
          <p:nvPr/>
        </p:nvSpPr>
        <p:spPr>
          <a:xfrm>
            <a:off x="195649" y="4194009"/>
            <a:ext cx="3771289" cy="5479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2"/>
          <p:cNvSpPr txBox="1"/>
          <p:nvPr/>
        </p:nvSpPr>
        <p:spPr>
          <a:xfrm>
            <a:off x="5391875" y="4233557"/>
            <a:ext cx="2761525" cy="53508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600" name="Google Shape;60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1" name="Google Shape;60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602" name="Google Shape;602;p32"/>
          <p:cNvSpPr txBox="1"/>
          <p:nvPr/>
        </p:nvSpPr>
        <p:spPr>
          <a:xfrm>
            <a:off x="471975" y="5275238"/>
            <a:ext cx="2504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Sendo o ganho, Uk = - Kx(k)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9678ad9261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9" name="Google Shape;609;g39678ad92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5" y="1147149"/>
            <a:ext cx="3902501" cy="50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39678ad926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677" y="1082826"/>
            <a:ext cx="3696999" cy="514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3"/>
          <p:cNvSpPr txBox="1"/>
          <p:nvPr/>
        </p:nvSpPr>
        <p:spPr>
          <a:xfrm>
            <a:off x="475735" y="1439917"/>
            <a:ext cx="11466786" cy="31802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105" l="-1062" r="-47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617" name="Google Shape;61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8" name="Google Shape;61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4"/>
          <p:cNvSpPr txBox="1"/>
          <p:nvPr/>
        </p:nvSpPr>
        <p:spPr>
          <a:xfrm>
            <a:off x="549577" y="1115885"/>
            <a:ext cx="11092845" cy="198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 1: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Deseja se aplicar a fórmula de Ackermann para projetar o ganho do controlador K para um satélite.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hardware em VHDL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encontre o ganho do controlador com base no período (T) estabelecido pelo usuário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As informações sobre os parâmetros de controle são apresentados nas equações abaixo: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4"/>
          <p:cNvSpPr txBox="1"/>
          <p:nvPr/>
        </p:nvSpPr>
        <p:spPr>
          <a:xfrm>
            <a:off x="799876" y="3777443"/>
            <a:ext cx="245567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777" l="-992" r="-1736" t="-44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4"/>
          <p:cNvSpPr txBox="1"/>
          <p:nvPr/>
        </p:nvSpPr>
        <p:spPr>
          <a:xfrm>
            <a:off x="903451" y="4911973"/>
            <a:ext cx="1765612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999" l="-2412" r="-1033" t="-44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4"/>
          <p:cNvSpPr txBox="1"/>
          <p:nvPr/>
        </p:nvSpPr>
        <p:spPr>
          <a:xfrm>
            <a:off x="4859934" y="3692331"/>
            <a:ext cx="1507144" cy="46192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4"/>
          <p:cNvSpPr txBox="1"/>
          <p:nvPr/>
        </p:nvSpPr>
        <p:spPr>
          <a:xfrm>
            <a:off x="6717182" y="3784793"/>
            <a:ext cx="107183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5554" l="-2840" r="-454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4"/>
          <p:cNvSpPr txBox="1"/>
          <p:nvPr/>
        </p:nvSpPr>
        <p:spPr>
          <a:xfrm>
            <a:off x="8294245" y="3784793"/>
            <a:ext cx="90403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5554" l="-3377" r="-60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4"/>
          <p:cNvSpPr txBox="1"/>
          <p:nvPr/>
        </p:nvSpPr>
        <p:spPr>
          <a:xfrm>
            <a:off x="4865196" y="4657386"/>
            <a:ext cx="928459" cy="7814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4"/>
          <p:cNvSpPr txBox="1"/>
          <p:nvPr/>
        </p:nvSpPr>
        <p:spPr>
          <a:xfrm>
            <a:off x="701041" y="5907188"/>
            <a:ext cx="2126159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9999" l="-2005" r="0" t="-44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4"/>
          <p:cNvSpPr txBox="1"/>
          <p:nvPr/>
        </p:nvSpPr>
        <p:spPr>
          <a:xfrm>
            <a:off x="549577" y="3455910"/>
            <a:ext cx="26065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Polinômio característico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4"/>
          <p:cNvSpPr txBox="1"/>
          <p:nvPr/>
        </p:nvSpPr>
        <p:spPr>
          <a:xfrm>
            <a:off x="3879433" y="3784793"/>
            <a:ext cx="9805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4"/>
          <p:cNvSpPr txBox="1"/>
          <p:nvPr/>
        </p:nvSpPr>
        <p:spPr>
          <a:xfrm>
            <a:off x="571713" y="4505178"/>
            <a:ext cx="38603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matriz de controlabilidade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4"/>
          <p:cNvSpPr txBox="1"/>
          <p:nvPr/>
        </p:nvSpPr>
        <p:spPr>
          <a:xfrm>
            <a:off x="3901569" y="4874510"/>
            <a:ext cx="2214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549577" y="5456396"/>
            <a:ext cx="34943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Ganho do Controlador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637" name="Google Shape;6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8" name="Google Shape;63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b383752f4_0_0"/>
          <p:cNvSpPr txBox="1"/>
          <p:nvPr>
            <p:ph idx="1" type="body"/>
          </p:nvPr>
        </p:nvSpPr>
        <p:spPr>
          <a:xfrm>
            <a:off x="558226" y="1535371"/>
            <a:ext cx="3920400" cy="43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 </a:t>
            </a:r>
            <a:endParaRPr/>
          </a:p>
        </p:txBody>
      </p:sp>
      <p:sp>
        <p:nvSpPr>
          <p:cNvPr id="644" name="Google Shape;644;g38b383752f4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45" name="Google Shape;645;g38b383752f4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6" name="Google Shape;646;g38b383752f4_0_0"/>
          <p:cNvSpPr txBox="1"/>
          <p:nvPr/>
        </p:nvSpPr>
        <p:spPr>
          <a:xfrm>
            <a:off x="2821960" y="796005"/>
            <a:ext cx="60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Predictive Control - MPC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g38b383752f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431" y="3199179"/>
            <a:ext cx="6030013" cy="128468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8b383752f4_0_0"/>
          <p:cNvSpPr/>
          <p:nvPr/>
        </p:nvSpPr>
        <p:spPr>
          <a:xfrm>
            <a:off x="6227449" y="4776827"/>
            <a:ext cx="5282100" cy="1762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8b383752f4_0_0"/>
          <p:cNvSpPr/>
          <p:nvPr/>
        </p:nvSpPr>
        <p:spPr>
          <a:xfrm>
            <a:off x="-74911" y="3041389"/>
            <a:ext cx="5873700" cy="18369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g38b383752f4_0_0"/>
          <p:cNvCxnSpPr/>
          <p:nvPr/>
        </p:nvCxnSpPr>
        <p:spPr>
          <a:xfrm>
            <a:off x="5761395" y="1380780"/>
            <a:ext cx="74700" cy="515820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1" name="Google Shape;651;g38b383752f4_0_0"/>
          <p:cNvSpPr/>
          <p:nvPr/>
        </p:nvSpPr>
        <p:spPr>
          <a:xfrm>
            <a:off x="431499" y="2231022"/>
            <a:ext cx="3743100" cy="646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" name="Google Shape;652;g38b383752f4_0_0"/>
          <p:cNvCxnSpPr/>
          <p:nvPr/>
        </p:nvCxnSpPr>
        <p:spPr>
          <a:xfrm>
            <a:off x="5813158" y="2977712"/>
            <a:ext cx="6356100" cy="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b383752f4_0_13"/>
          <p:cNvSpPr txBox="1"/>
          <p:nvPr/>
        </p:nvSpPr>
        <p:spPr>
          <a:xfrm>
            <a:off x="5953950" y="796675"/>
            <a:ext cx="5665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>
                <a:solidFill>
                  <a:srgbClr val="0000FF"/>
                </a:solidFill>
              </a:rPr>
              <a:t>Projeto 1 - Entrega Individual: </a:t>
            </a:r>
            <a:endParaRPr>
              <a:solidFill>
                <a:srgbClr val="0000FF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AutoNum type="arabicParenR"/>
            </a:pPr>
            <a:r>
              <a:rPr lang="pt-BR">
                <a:solidFill>
                  <a:srgbClr val="0000FF"/>
                </a:solidFill>
              </a:rPr>
              <a:t>Código em VHDL </a:t>
            </a:r>
            <a:r>
              <a:rPr b="1" lang="pt-BR">
                <a:solidFill>
                  <a:srgbClr val="0000FF"/>
                </a:solidFill>
              </a:rPr>
              <a:t>(3,5)</a:t>
            </a:r>
            <a:r>
              <a:rPr lang="pt-BR">
                <a:solidFill>
                  <a:srgbClr val="0000FF"/>
                </a:solidFill>
              </a:rPr>
              <a:t>;</a:t>
            </a:r>
            <a:endParaRPr>
              <a:solidFill>
                <a:srgbClr val="0000FF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AutoNum type="arabicParenR"/>
            </a:pPr>
            <a:r>
              <a:rPr lang="pt-BR">
                <a:solidFill>
                  <a:srgbClr val="0000FF"/>
                </a:solidFill>
              </a:rPr>
              <a:t>Código em Matlab </a:t>
            </a:r>
            <a:r>
              <a:rPr b="1" lang="pt-BR">
                <a:solidFill>
                  <a:srgbClr val="0000FF"/>
                </a:solidFill>
              </a:rPr>
              <a:t>(2,0)</a:t>
            </a:r>
            <a:r>
              <a:rPr lang="pt-BR">
                <a:solidFill>
                  <a:srgbClr val="0000FF"/>
                </a:solidFill>
              </a:rPr>
              <a:t>;</a:t>
            </a:r>
            <a:endParaRPr>
              <a:solidFill>
                <a:srgbClr val="0000FF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AutoNum type="arabicParenR"/>
            </a:pPr>
            <a:r>
              <a:rPr lang="pt-BR">
                <a:solidFill>
                  <a:srgbClr val="0000FF"/>
                </a:solidFill>
              </a:rPr>
              <a:t>Simulação em ModelSim (com arquivo executável) </a:t>
            </a:r>
            <a:r>
              <a:rPr b="1" lang="pt-BR">
                <a:solidFill>
                  <a:srgbClr val="0000FF"/>
                </a:solidFill>
              </a:rPr>
              <a:t>(4,0)</a:t>
            </a:r>
            <a:r>
              <a:rPr lang="pt-BR">
                <a:solidFill>
                  <a:srgbClr val="0000FF"/>
                </a:solidFill>
              </a:rPr>
              <a:t>; </a:t>
            </a:r>
            <a:endParaRPr>
              <a:solidFill>
                <a:srgbClr val="0000FF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AutoNum type="arabicParenR"/>
            </a:pPr>
            <a:r>
              <a:rPr lang="pt-BR">
                <a:solidFill>
                  <a:srgbClr val="0000FF"/>
                </a:solidFill>
              </a:rPr>
              <a:t>Resultado no Matlab </a:t>
            </a:r>
            <a:r>
              <a:rPr b="1" lang="pt-BR">
                <a:solidFill>
                  <a:srgbClr val="0000FF"/>
                </a:solidFill>
              </a:rPr>
              <a:t>(0,5)</a:t>
            </a:r>
            <a:r>
              <a:rPr lang="pt-BR">
                <a:solidFill>
                  <a:srgbClr val="0000FF"/>
                </a:solidFill>
              </a:rPr>
              <a:t>;</a:t>
            </a:r>
            <a:endParaRPr>
              <a:solidFill>
                <a:srgbClr val="0000FF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grpSp>
        <p:nvGrpSpPr>
          <p:cNvPr id="658" name="Google Shape;658;g38b383752f4_0_13"/>
          <p:cNvGrpSpPr/>
          <p:nvPr/>
        </p:nvGrpSpPr>
        <p:grpSpPr>
          <a:xfrm>
            <a:off x="545357" y="2191569"/>
            <a:ext cx="3028800" cy="554100"/>
            <a:chOff x="545357" y="2191569"/>
            <a:chExt cx="3028800" cy="554100"/>
          </a:xfrm>
        </p:grpSpPr>
        <p:sp>
          <p:nvSpPr>
            <p:cNvPr id="659" name="Google Shape;659;g38b383752f4_0_13"/>
            <p:cNvSpPr txBox="1"/>
            <p:nvPr/>
          </p:nvSpPr>
          <p:spPr>
            <a:xfrm>
              <a:off x="545357" y="2191569"/>
              <a:ext cx="3028800" cy="554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8b383752f4_0_13"/>
            <p:cNvSpPr txBox="1"/>
            <p:nvPr/>
          </p:nvSpPr>
          <p:spPr>
            <a:xfrm>
              <a:off x="1105107" y="2464827"/>
              <a:ext cx="1429500" cy="276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32610" l="-3830" r="-5100" t="-21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g38b383752f4_0_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662" name="Google Shape;662;g38b383752f4_0_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3" name="Google Shape;663;g38b383752f4_0_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664" name="Google Shape;664;g38b383752f4_0_13"/>
          <p:cNvSpPr txBox="1"/>
          <p:nvPr/>
        </p:nvSpPr>
        <p:spPr>
          <a:xfrm>
            <a:off x="197447" y="3146207"/>
            <a:ext cx="10898100" cy="3502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45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8b383752f4_0_13"/>
          <p:cNvSpPr txBox="1"/>
          <p:nvPr/>
        </p:nvSpPr>
        <p:spPr>
          <a:xfrm>
            <a:off x="8787033" y="2551811"/>
            <a:ext cx="3163200" cy="1754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7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8b383752f4_0_13"/>
          <p:cNvSpPr txBox="1"/>
          <p:nvPr/>
        </p:nvSpPr>
        <p:spPr>
          <a:xfrm>
            <a:off x="445150" y="1351820"/>
            <a:ext cx="4271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Supondo que uma planta é descrita pela equação de estado: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672" name="Google Shape;6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673" name="Google Shape;6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4" name="Google Shape;674;p36"/>
          <p:cNvSpPr/>
          <p:nvPr/>
        </p:nvSpPr>
        <p:spPr>
          <a:xfrm>
            <a:off x="0" y="3097096"/>
            <a:ext cx="2724587" cy="11690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5" name="Google Shape;675;p36"/>
          <p:cNvGrpSpPr/>
          <p:nvPr/>
        </p:nvGrpSpPr>
        <p:grpSpPr>
          <a:xfrm>
            <a:off x="609615" y="1302437"/>
            <a:ext cx="3774766" cy="1676280"/>
            <a:chOff x="986805" y="933105"/>
            <a:chExt cx="3774766" cy="1676280"/>
          </a:xfrm>
        </p:grpSpPr>
        <p:grpSp>
          <p:nvGrpSpPr>
            <p:cNvPr id="676" name="Google Shape;676;p36"/>
            <p:cNvGrpSpPr/>
            <p:nvPr/>
          </p:nvGrpSpPr>
          <p:grpSpPr>
            <a:xfrm>
              <a:off x="986805" y="1182097"/>
              <a:ext cx="3774766" cy="1427288"/>
              <a:chOff x="521" y="2355"/>
              <a:chExt cx="3765" cy="1302"/>
            </a:xfrm>
          </p:grpSpPr>
          <p:pic>
            <p:nvPicPr>
              <p:cNvPr descr="circuito rlc2" id="677" name="Google Shape;677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67" y="2355"/>
                <a:ext cx="3468" cy="13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8" name="Google Shape;678;p3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21" y="2886"/>
                <a:ext cx="363" cy="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9" name="Google Shape;679;p3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82" y="2931"/>
                <a:ext cx="363" cy="3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0" name="Google Shape;680;p3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787" y="2795"/>
                <a:ext cx="499" cy="3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81" name="Google Shape;681;p36"/>
            <p:cNvCxnSpPr/>
            <p:nvPr/>
          </p:nvCxnSpPr>
          <p:spPr>
            <a:xfrm rot="10800000">
              <a:off x="1707995" y="1305250"/>
              <a:ext cx="501805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82" name="Google Shape;682;p36"/>
            <p:cNvCxnSpPr/>
            <p:nvPr/>
          </p:nvCxnSpPr>
          <p:spPr>
            <a:xfrm rot="10800000">
              <a:off x="2805712" y="1302437"/>
              <a:ext cx="501805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83" name="Google Shape;683;p36"/>
            <p:cNvSpPr/>
            <p:nvPr/>
          </p:nvSpPr>
          <p:spPr>
            <a:xfrm>
              <a:off x="2685098" y="933105"/>
              <a:ext cx="765017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1570843" y="933105"/>
              <a:ext cx="745973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3332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p36"/>
          <p:cNvGrpSpPr/>
          <p:nvPr/>
        </p:nvGrpSpPr>
        <p:grpSpPr>
          <a:xfrm>
            <a:off x="6158680" y="965005"/>
            <a:ext cx="4176267" cy="3152923"/>
            <a:chOff x="5323249" y="1182097"/>
            <a:chExt cx="4176267" cy="3152923"/>
          </a:xfrm>
        </p:grpSpPr>
        <p:sp>
          <p:nvSpPr>
            <p:cNvPr id="686" name="Google Shape;686;p36"/>
            <p:cNvSpPr/>
            <p:nvPr/>
          </p:nvSpPr>
          <p:spPr>
            <a:xfrm>
              <a:off x="5357678" y="1182097"/>
              <a:ext cx="3172920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5323249" y="2032379"/>
              <a:ext cx="3943323" cy="648126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5357678" y="3157786"/>
              <a:ext cx="4141838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5399155" y="3965688"/>
              <a:ext cx="3383682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83595" l="0" r="-14593" t="-1196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36"/>
          <p:cNvSpPr/>
          <p:nvPr/>
        </p:nvSpPr>
        <p:spPr>
          <a:xfrm>
            <a:off x="1193653" y="5458497"/>
            <a:ext cx="4391972" cy="93673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2015490" y="4458513"/>
            <a:ext cx="93383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FUNÇÃO DE TRANSFERÊNCIA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3154672" y="3238631"/>
            <a:ext cx="1767855" cy="7594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9366029" y="5579349"/>
            <a:ext cx="2644827" cy="65114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6"/>
          <p:cNvSpPr txBox="1"/>
          <p:nvPr/>
        </p:nvSpPr>
        <p:spPr>
          <a:xfrm>
            <a:off x="6803080" y="5521146"/>
            <a:ext cx="1807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1200;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0.4;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100*10^-9;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700" name="Google Shape;70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701" name="Google Shape;701;p37"/>
          <p:cNvSpPr txBox="1"/>
          <p:nvPr>
            <p:ph idx="12" type="sldNum"/>
          </p:nvPr>
        </p:nvSpPr>
        <p:spPr>
          <a:xfrm>
            <a:off x="8325503" y="62680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2" name="Google Shape;702;p37"/>
          <p:cNvSpPr/>
          <p:nvPr/>
        </p:nvSpPr>
        <p:spPr>
          <a:xfrm>
            <a:off x="421165" y="1103348"/>
            <a:ext cx="4391972" cy="9367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10168890" y="839750"/>
            <a:ext cx="1807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1200;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0.4;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100*10^-9;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5367946" y="1173734"/>
            <a:ext cx="2644827" cy="6511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356322" y="3190343"/>
            <a:ext cx="1821180" cy="7682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1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7"/>
          <p:cNvSpPr/>
          <p:nvPr/>
        </p:nvSpPr>
        <p:spPr>
          <a:xfrm>
            <a:off x="342967" y="5048504"/>
            <a:ext cx="3543470" cy="6481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421165" y="4088456"/>
            <a:ext cx="3943323" cy="6481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4038600" y="3159858"/>
            <a:ext cx="2031073" cy="75943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2453667" y="3346062"/>
            <a:ext cx="1283877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37"/>
          <p:cNvCxnSpPr/>
          <p:nvPr/>
        </p:nvCxnSpPr>
        <p:spPr>
          <a:xfrm>
            <a:off x="6646736" y="3085542"/>
            <a:ext cx="78706" cy="3522833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1" name="Google Shape;711;p37"/>
          <p:cNvSpPr/>
          <p:nvPr/>
        </p:nvSpPr>
        <p:spPr>
          <a:xfrm>
            <a:off x="6944093" y="3277783"/>
            <a:ext cx="99065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8687935" y="3085542"/>
            <a:ext cx="2588529" cy="62985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3" name="Google Shape;713;p37"/>
          <p:cNvGrpSpPr/>
          <p:nvPr/>
        </p:nvGrpSpPr>
        <p:grpSpPr>
          <a:xfrm>
            <a:off x="6951773" y="4442879"/>
            <a:ext cx="4422471" cy="1480670"/>
            <a:chOff x="6951773" y="4442879"/>
            <a:chExt cx="4422471" cy="1480670"/>
          </a:xfrm>
        </p:grpSpPr>
        <p:sp>
          <p:nvSpPr>
            <p:cNvPr id="714" name="Google Shape;714;p37"/>
            <p:cNvSpPr/>
            <p:nvPr/>
          </p:nvSpPr>
          <p:spPr>
            <a:xfrm>
              <a:off x="6951773" y="4442879"/>
              <a:ext cx="4422471" cy="714683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7130460" y="5366024"/>
              <a:ext cx="2083391" cy="5575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37"/>
          <p:cNvSpPr txBox="1"/>
          <p:nvPr/>
        </p:nvSpPr>
        <p:spPr>
          <a:xfrm>
            <a:off x="2853690" y="2389314"/>
            <a:ext cx="7315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 DE 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722" name="Google Shape;72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723" name="Google Shape;72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24" name="Google Shape;7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" y="1650682"/>
            <a:ext cx="3779520" cy="442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156" y="2365758"/>
            <a:ext cx="2733675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5565" y="1827244"/>
            <a:ext cx="2057400" cy="406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7" name="Google Shape;727;p38"/>
          <p:cNvCxnSpPr/>
          <p:nvPr/>
        </p:nvCxnSpPr>
        <p:spPr>
          <a:xfrm>
            <a:off x="4495069" y="613317"/>
            <a:ext cx="0" cy="5743033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8" name="Google Shape;728;p38"/>
          <p:cNvCxnSpPr/>
          <p:nvPr/>
        </p:nvCxnSpPr>
        <p:spPr>
          <a:xfrm>
            <a:off x="8059742" y="613317"/>
            <a:ext cx="0" cy="5743033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29" name="Google Shape;72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1539" y="700428"/>
            <a:ext cx="26289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735" name="Google Shape;73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736" name="Google Shape;73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737" name="Google Shape;737;p39"/>
          <p:cNvGrpSpPr/>
          <p:nvPr/>
        </p:nvGrpSpPr>
        <p:grpSpPr>
          <a:xfrm>
            <a:off x="1137237" y="920459"/>
            <a:ext cx="2251678" cy="2309626"/>
            <a:chOff x="1313114" y="1279394"/>
            <a:chExt cx="2251678" cy="2309626"/>
          </a:xfrm>
        </p:grpSpPr>
        <p:pic>
          <p:nvPicPr>
            <p:cNvPr descr="massa-mola1" id="738" name="Google Shape;738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13114" y="1279394"/>
              <a:ext cx="2251678" cy="230962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9" name="Google Shape;739;p39"/>
            <p:cNvCxnSpPr/>
            <p:nvPr/>
          </p:nvCxnSpPr>
          <p:spPr>
            <a:xfrm>
              <a:off x="1473134" y="2240280"/>
              <a:ext cx="0" cy="5143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40" name="Google Shape;740;p39"/>
            <p:cNvCxnSpPr/>
            <p:nvPr/>
          </p:nvCxnSpPr>
          <p:spPr>
            <a:xfrm>
              <a:off x="2105594" y="2251710"/>
              <a:ext cx="0" cy="5143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1" name="Google Shape;741;p39"/>
          <p:cNvSpPr txBox="1"/>
          <p:nvPr/>
        </p:nvSpPr>
        <p:spPr>
          <a:xfrm>
            <a:off x="4949190" y="1279394"/>
            <a:ext cx="3204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9"/>
          <p:cNvSpPr/>
          <p:nvPr/>
        </p:nvSpPr>
        <p:spPr>
          <a:xfrm>
            <a:off x="6480810" y="851590"/>
            <a:ext cx="4259580" cy="11565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9"/>
          <p:cNvSpPr/>
          <p:nvPr/>
        </p:nvSpPr>
        <p:spPr>
          <a:xfrm>
            <a:off x="156762" y="3262743"/>
            <a:ext cx="4564380" cy="75764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698327" y="4159871"/>
            <a:ext cx="3296672" cy="8544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698327" y="5153821"/>
            <a:ext cx="2369110" cy="91537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9"/>
          <p:cNvSpPr/>
          <p:nvPr/>
        </p:nvSpPr>
        <p:spPr>
          <a:xfrm>
            <a:off x="5353601" y="2138185"/>
            <a:ext cx="6096000" cy="195450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" name="Google Shape;747;p39"/>
          <p:cNvCxnSpPr/>
          <p:nvPr/>
        </p:nvCxnSpPr>
        <p:spPr>
          <a:xfrm>
            <a:off x="5567827" y="920459"/>
            <a:ext cx="46608" cy="5687322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8" name="Google Shape;748;p39"/>
          <p:cNvSpPr/>
          <p:nvPr/>
        </p:nvSpPr>
        <p:spPr>
          <a:xfrm>
            <a:off x="5702682" y="4712197"/>
            <a:ext cx="6096000" cy="138416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754" name="Google Shape;7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755" name="Google Shape;75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eletromecânico1" id="756" name="Google Shape;7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814" y="1211230"/>
            <a:ext cx="4073699" cy="172946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0"/>
          <p:cNvSpPr/>
          <p:nvPr/>
        </p:nvSpPr>
        <p:spPr>
          <a:xfrm>
            <a:off x="609814" y="3053912"/>
            <a:ext cx="3995640" cy="19545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0"/>
          <p:cNvSpPr/>
          <p:nvPr/>
        </p:nvSpPr>
        <p:spPr>
          <a:xfrm>
            <a:off x="1823601" y="5121639"/>
            <a:ext cx="116269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0"/>
          <p:cNvSpPr/>
          <p:nvPr/>
        </p:nvSpPr>
        <p:spPr>
          <a:xfrm>
            <a:off x="1046786" y="5689134"/>
            <a:ext cx="279627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83595" l="0" r="-18120" t="-1196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0"/>
          <p:cNvSpPr/>
          <p:nvPr/>
        </p:nvSpPr>
        <p:spPr>
          <a:xfrm>
            <a:off x="6096000" y="798110"/>
            <a:ext cx="6096000" cy="57408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40"/>
          <p:cNvCxnSpPr/>
          <p:nvPr/>
        </p:nvCxnSpPr>
        <p:spPr>
          <a:xfrm flipH="1">
            <a:off x="5629322" y="314246"/>
            <a:ext cx="60495" cy="624898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767" name="Google Shape;76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768" name="Google Shape;76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eletromecânico1" id="769" name="Google Shape;7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2" y="1032799"/>
            <a:ext cx="2409557" cy="1022963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1"/>
          <p:cNvSpPr/>
          <p:nvPr/>
        </p:nvSpPr>
        <p:spPr>
          <a:xfrm>
            <a:off x="256478" y="2620380"/>
            <a:ext cx="2181206" cy="195630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1"/>
          <p:cNvSpPr/>
          <p:nvPr/>
        </p:nvSpPr>
        <p:spPr>
          <a:xfrm>
            <a:off x="2714999" y="1299097"/>
            <a:ext cx="2706061" cy="80246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2820823" y="2115391"/>
            <a:ext cx="2709011" cy="52706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139" l="0" r="-11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1"/>
          <p:cNvSpPr/>
          <p:nvPr/>
        </p:nvSpPr>
        <p:spPr>
          <a:xfrm>
            <a:off x="2618211" y="3554717"/>
            <a:ext cx="3768988" cy="7700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1"/>
          <p:cNvSpPr/>
          <p:nvPr/>
        </p:nvSpPr>
        <p:spPr>
          <a:xfrm>
            <a:off x="2663362" y="4387801"/>
            <a:ext cx="4233531" cy="75591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5" name="Google Shape;775;p41"/>
          <p:cNvCxnSpPr/>
          <p:nvPr/>
        </p:nvCxnSpPr>
        <p:spPr>
          <a:xfrm>
            <a:off x="2663362" y="1073883"/>
            <a:ext cx="51637" cy="5482173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41"/>
          <p:cNvCxnSpPr/>
          <p:nvPr/>
        </p:nvCxnSpPr>
        <p:spPr>
          <a:xfrm>
            <a:off x="6725336" y="1032799"/>
            <a:ext cx="49694" cy="5523257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7" name="Google Shape;777;p41"/>
          <p:cNvSpPr/>
          <p:nvPr/>
        </p:nvSpPr>
        <p:spPr>
          <a:xfrm>
            <a:off x="6834110" y="2592969"/>
            <a:ext cx="5218043" cy="184044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2"/>
          <p:cNvSpPr txBox="1"/>
          <p:nvPr>
            <p:ph idx="1" type="body"/>
          </p:nvPr>
        </p:nvSpPr>
        <p:spPr>
          <a:xfrm>
            <a:off x="558226" y="1535371"/>
            <a:ext cx="3920490" cy="4309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 </a:t>
            </a:r>
            <a:endParaRPr/>
          </a:p>
        </p:txBody>
      </p:sp>
      <p:sp>
        <p:nvSpPr>
          <p:cNvPr id="783" name="Google Shape;78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84" name="Google Shape;78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785" name="Google Shape;785;p42"/>
          <p:cNvSpPr txBox="1"/>
          <p:nvPr/>
        </p:nvSpPr>
        <p:spPr>
          <a:xfrm>
            <a:off x="2821960" y="796005"/>
            <a:ext cx="60464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Predictive Control - MPC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6" name="Google Shape;78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431" y="3199179"/>
            <a:ext cx="6030013" cy="128468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2"/>
          <p:cNvSpPr/>
          <p:nvPr/>
        </p:nvSpPr>
        <p:spPr>
          <a:xfrm>
            <a:off x="6227449" y="4776827"/>
            <a:ext cx="5281961" cy="17620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2"/>
          <p:cNvSpPr/>
          <p:nvPr/>
        </p:nvSpPr>
        <p:spPr>
          <a:xfrm>
            <a:off x="-74911" y="3041389"/>
            <a:ext cx="5873617" cy="183691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9" name="Google Shape;789;p42"/>
          <p:cNvCxnSpPr/>
          <p:nvPr/>
        </p:nvCxnSpPr>
        <p:spPr>
          <a:xfrm>
            <a:off x="5761395" y="1380780"/>
            <a:ext cx="74623" cy="5158132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0" name="Google Shape;790;p42"/>
          <p:cNvSpPr/>
          <p:nvPr/>
        </p:nvSpPr>
        <p:spPr>
          <a:xfrm>
            <a:off x="431499" y="2231022"/>
            <a:ext cx="3743093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8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2"/>
          <p:cNvSpPr txBox="1"/>
          <p:nvPr/>
        </p:nvSpPr>
        <p:spPr>
          <a:xfrm>
            <a:off x="6007431" y="1504643"/>
            <a:ext cx="60300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arquivo executável no Matlab e Construa as matrizes aumentadas dos circuitos modelados no trabalho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42"/>
          <p:cNvCxnSpPr/>
          <p:nvPr/>
        </p:nvCxnSpPr>
        <p:spPr>
          <a:xfrm>
            <a:off x="5813158" y="2977712"/>
            <a:ext cx="6355982" cy="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3"/>
          <p:cNvSpPr txBox="1"/>
          <p:nvPr/>
        </p:nvSpPr>
        <p:spPr>
          <a:xfrm>
            <a:off x="971753" y="1173088"/>
            <a:ext cx="1002335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Preditivo baseado em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3"/>
          <p:cNvSpPr txBox="1"/>
          <p:nvPr/>
        </p:nvSpPr>
        <p:spPr>
          <a:xfrm>
            <a:off x="458831" y="2003766"/>
            <a:ext cx="114835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técnica de Controlador Preditivo é utilizada em diversas áreas devido a robustez em trabalhar com sistemas não lineares, com SISO e MIMO.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3"/>
          <p:cNvSpPr txBox="1"/>
          <p:nvPr/>
        </p:nvSpPr>
        <p:spPr>
          <a:xfrm>
            <a:off x="458831" y="3153421"/>
            <a:ext cx="1154885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Controle Preditivo baseado em Modelos (MPC) desenvolve a obtenção do sinal de controle por meio da minimização de uma função objetivo (função custo) considerando o erro futuro, além disso, possibilita a utilização de restrições nas variáveis de processo. </a:t>
            </a:r>
            <a:r>
              <a:rPr b="1" i="0" lang="pt-BR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Princípio do horizonte móvel.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01" name="Google Shape;80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2" name="Google Shape;80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803" name="Google Shape;803;p43"/>
          <p:cNvSpPr txBox="1"/>
          <p:nvPr/>
        </p:nvSpPr>
        <p:spPr>
          <a:xfrm flipH="1">
            <a:off x="2113892" y="3407352"/>
            <a:ext cx="573552" cy="36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3"/>
          <p:cNvSpPr txBox="1"/>
          <p:nvPr/>
        </p:nvSpPr>
        <p:spPr>
          <a:xfrm>
            <a:off x="458830" y="4977012"/>
            <a:ext cx="1148354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técnicas convencionais do MPC baseiam-se no horizonte finito e usam um horizonte de controle Nc, um horizonte de predição Np, além da parte de desempenho que correspondem a minimização da função custo.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10" name="Google Shape;81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811" name="Google Shape;81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12" name="Google Shape;812;p44"/>
          <p:cNvGrpSpPr/>
          <p:nvPr/>
        </p:nvGrpSpPr>
        <p:grpSpPr>
          <a:xfrm>
            <a:off x="495837" y="1365584"/>
            <a:ext cx="7657563" cy="4500396"/>
            <a:chOff x="3181082" y="1223917"/>
            <a:chExt cx="7657563" cy="4500396"/>
          </a:xfrm>
        </p:grpSpPr>
        <p:sp>
          <p:nvSpPr>
            <p:cNvPr id="813" name="Google Shape;813;p44"/>
            <p:cNvSpPr/>
            <p:nvPr/>
          </p:nvSpPr>
          <p:spPr>
            <a:xfrm>
              <a:off x="5409130" y="2665929"/>
              <a:ext cx="2034860" cy="631064"/>
            </a:xfrm>
            <a:prstGeom prst="rect">
              <a:avLst/>
            </a:prstGeom>
            <a:noFill/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44"/>
            <p:cNvSpPr txBox="1"/>
            <p:nvPr/>
          </p:nvSpPr>
          <p:spPr>
            <a:xfrm>
              <a:off x="5447763" y="2781837"/>
              <a:ext cx="19962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5" name="Google Shape;815;p44"/>
            <p:cNvGrpSpPr/>
            <p:nvPr/>
          </p:nvGrpSpPr>
          <p:grpSpPr>
            <a:xfrm>
              <a:off x="8886421" y="2634945"/>
              <a:ext cx="650385" cy="653530"/>
              <a:chOff x="8409903" y="2528086"/>
              <a:chExt cx="650385" cy="653530"/>
            </a:xfrm>
          </p:grpSpPr>
          <p:sp>
            <p:nvSpPr>
              <p:cNvPr id="816" name="Google Shape;816;p44"/>
              <p:cNvSpPr/>
              <p:nvPr/>
            </p:nvSpPr>
            <p:spPr>
              <a:xfrm>
                <a:off x="8448541" y="2665929"/>
                <a:ext cx="592428" cy="485240"/>
              </a:xfrm>
              <a:prstGeom prst="ellipse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44"/>
              <p:cNvSpPr txBox="1"/>
              <p:nvPr/>
            </p:nvSpPr>
            <p:spPr>
              <a:xfrm>
                <a:off x="8609528" y="2528086"/>
                <a:ext cx="45076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pt-BR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4"/>
              <p:cNvSpPr txBox="1"/>
              <p:nvPr/>
            </p:nvSpPr>
            <p:spPr>
              <a:xfrm>
                <a:off x="8409903" y="2596841"/>
                <a:ext cx="21894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pt-BR" sz="3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9" name="Google Shape;819;p44"/>
            <p:cNvSpPr/>
            <p:nvPr/>
          </p:nvSpPr>
          <p:spPr>
            <a:xfrm>
              <a:off x="5409129" y="3990306"/>
              <a:ext cx="2034860" cy="631064"/>
            </a:xfrm>
            <a:prstGeom prst="rect">
              <a:avLst/>
            </a:prstGeom>
            <a:noFill/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44"/>
            <p:cNvSpPr txBox="1"/>
            <p:nvPr/>
          </p:nvSpPr>
          <p:spPr>
            <a:xfrm>
              <a:off x="5705341" y="4159876"/>
              <a:ext cx="15454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OTIMIZAÇÃO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1" name="Google Shape;821;p44"/>
            <p:cNvCxnSpPr>
              <a:stCxn id="819" idx="1"/>
            </p:cNvCxnSpPr>
            <p:nvPr/>
          </p:nvCxnSpPr>
          <p:spPr>
            <a:xfrm rot="10800000">
              <a:off x="3193929" y="4305838"/>
              <a:ext cx="2215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2" name="Google Shape;822;p44"/>
            <p:cNvCxnSpPr/>
            <p:nvPr/>
          </p:nvCxnSpPr>
          <p:spPr>
            <a:xfrm flipH="1" rot="10800000">
              <a:off x="3181082" y="3151169"/>
              <a:ext cx="12879" cy="115466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3" name="Google Shape;823;p44"/>
            <p:cNvCxnSpPr/>
            <p:nvPr/>
          </p:nvCxnSpPr>
          <p:spPr>
            <a:xfrm>
              <a:off x="3193961" y="3151169"/>
              <a:ext cx="2234483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24" name="Google Shape;824;p44"/>
            <p:cNvCxnSpPr>
              <a:stCxn id="813" idx="3"/>
              <a:endCxn id="816" idx="2"/>
            </p:cNvCxnSpPr>
            <p:nvPr/>
          </p:nvCxnSpPr>
          <p:spPr>
            <a:xfrm>
              <a:off x="7443990" y="2981461"/>
              <a:ext cx="1481100" cy="33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25" name="Google Shape;825;p44"/>
            <p:cNvCxnSpPr>
              <a:stCxn id="816" idx="4"/>
            </p:cNvCxnSpPr>
            <p:nvPr/>
          </p:nvCxnSpPr>
          <p:spPr>
            <a:xfrm>
              <a:off x="9221273" y="3258028"/>
              <a:ext cx="0" cy="1047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6" name="Google Shape;826;p44"/>
            <p:cNvCxnSpPr>
              <a:endCxn id="819" idx="3"/>
            </p:cNvCxnSpPr>
            <p:nvPr/>
          </p:nvCxnSpPr>
          <p:spPr>
            <a:xfrm rot="10800000">
              <a:off x="7443989" y="4305838"/>
              <a:ext cx="1777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27" name="Google Shape;827;p44"/>
            <p:cNvCxnSpPr/>
            <p:nvPr/>
          </p:nvCxnSpPr>
          <p:spPr>
            <a:xfrm rot="10800000">
              <a:off x="7250806" y="4621370"/>
              <a:ext cx="0" cy="942303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28" name="Google Shape;828;p44"/>
            <p:cNvCxnSpPr/>
            <p:nvPr/>
          </p:nvCxnSpPr>
          <p:spPr>
            <a:xfrm rot="10800000">
              <a:off x="5705341" y="4621370"/>
              <a:ext cx="0" cy="83927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29" name="Google Shape;829;p44"/>
            <p:cNvCxnSpPr/>
            <p:nvPr/>
          </p:nvCxnSpPr>
          <p:spPr>
            <a:xfrm>
              <a:off x="3812146" y="2780974"/>
              <a:ext cx="1596983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30" name="Google Shape;830;p44"/>
            <p:cNvSpPr txBox="1"/>
            <p:nvPr/>
          </p:nvSpPr>
          <p:spPr>
            <a:xfrm>
              <a:off x="3644729" y="1911274"/>
              <a:ext cx="18288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ENTRADAS E SAÍDAS PASSADAS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4"/>
            <p:cNvSpPr txBox="1"/>
            <p:nvPr/>
          </p:nvSpPr>
          <p:spPr>
            <a:xfrm>
              <a:off x="3503054" y="3694161"/>
              <a:ext cx="20091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ENTRADAS FUTURAS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4"/>
            <p:cNvSpPr txBox="1"/>
            <p:nvPr/>
          </p:nvSpPr>
          <p:spPr>
            <a:xfrm>
              <a:off x="7779913" y="2390463"/>
              <a:ext cx="166137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SAÍDAS PREDITAS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4"/>
            <p:cNvSpPr txBox="1"/>
            <p:nvPr/>
          </p:nvSpPr>
          <p:spPr>
            <a:xfrm>
              <a:off x="7863627" y="3650958"/>
              <a:ext cx="148643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ERROS FUTUROS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4"/>
            <p:cNvSpPr txBox="1"/>
            <p:nvPr/>
          </p:nvSpPr>
          <p:spPr>
            <a:xfrm>
              <a:off x="7316276" y="5041006"/>
              <a:ext cx="20080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RESTRIÇÕES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4"/>
            <p:cNvSpPr txBox="1"/>
            <p:nvPr/>
          </p:nvSpPr>
          <p:spPr>
            <a:xfrm>
              <a:off x="4745329" y="5077982"/>
              <a:ext cx="164849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FUNÇÃO CUSTO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6" name="Google Shape;836;p44"/>
            <p:cNvCxnSpPr/>
            <p:nvPr/>
          </p:nvCxnSpPr>
          <p:spPr>
            <a:xfrm>
              <a:off x="9234152" y="1230407"/>
              <a:ext cx="0" cy="1550863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37" name="Google Shape;837;p44"/>
            <p:cNvSpPr txBox="1"/>
            <p:nvPr/>
          </p:nvSpPr>
          <p:spPr>
            <a:xfrm>
              <a:off x="9234152" y="1223917"/>
              <a:ext cx="1604493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TRAJETÓRIA DE REFERÊNCIA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p44"/>
          <p:cNvSpPr/>
          <p:nvPr/>
        </p:nvSpPr>
        <p:spPr>
          <a:xfrm>
            <a:off x="5060526" y="1725601"/>
            <a:ext cx="1173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y(t + k | t)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4"/>
          <p:cNvSpPr/>
          <p:nvPr/>
        </p:nvSpPr>
        <p:spPr>
          <a:xfrm>
            <a:off x="5323345" y="2086394"/>
            <a:ext cx="497589" cy="47918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4"/>
          <p:cNvSpPr/>
          <p:nvPr/>
        </p:nvSpPr>
        <p:spPr>
          <a:xfrm>
            <a:off x="4381651" y="787583"/>
            <a:ext cx="1257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k={1. . . N},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44"/>
          <p:cNvCxnSpPr/>
          <p:nvPr/>
        </p:nvCxnSpPr>
        <p:spPr>
          <a:xfrm rot="10800000">
            <a:off x="5002847" y="1130818"/>
            <a:ext cx="540378" cy="60309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842" name="Google Shape;842;p44"/>
          <p:cNvGrpSpPr/>
          <p:nvPr/>
        </p:nvGrpSpPr>
        <p:grpSpPr>
          <a:xfrm>
            <a:off x="7351153" y="3438660"/>
            <a:ext cx="4329985" cy="1827155"/>
            <a:chOff x="7351153" y="3438660"/>
            <a:chExt cx="4329985" cy="1827155"/>
          </a:xfrm>
        </p:grpSpPr>
        <p:sp>
          <p:nvSpPr>
            <p:cNvPr id="843" name="Google Shape;843;p44"/>
            <p:cNvSpPr/>
            <p:nvPr/>
          </p:nvSpPr>
          <p:spPr>
            <a:xfrm>
              <a:off x="7351153" y="3438660"/>
              <a:ext cx="4329985" cy="1596979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cap="flat" cmpd="sng" w="762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4"/>
            <p:cNvSpPr txBox="1"/>
            <p:nvPr/>
          </p:nvSpPr>
          <p:spPr>
            <a:xfrm>
              <a:off x="7454187" y="3511489"/>
              <a:ext cx="422695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MPC foi desenvolvido considerando o conceito de predição e a obtenção do sinal de controle através da minimização de uma função objetivo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5"/>
          <p:cNvSpPr txBox="1"/>
          <p:nvPr/>
        </p:nvSpPr>
        <p:spPr>
          <a:xfrm>
            <a:off x="502642" y="1748325"/>
            <a:ext cx="11474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5"/>
          <p:cNvSpPr txBox="1"/>
          <p:nvPr/>
        </p:nvSpPr>
        <p:spPr>
          <a:xfrm>
            <a:off x="502643" y="1272985"/>
            <a:ext cx="102611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modelo dinâmico da planta é primordial para projetar o Controlador Preditivo.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5"/>
          <p:cNvSpPr txBox="1"/>
          <p:nvPr/>
        </p:nvSpPr>
        <p:spPr>
          <a:xfrm>
            <a:off x="502642" y="4406251"/>
            <a:ext cx="11605338" cy="1287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Custo ou função objetivo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Trata-se de uma função erro com base na diferença entre as respostas desejadas e  reais. Esta função é calculada dentro da janela de predição através de algoritmos de otimização.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53" name="Google Shape;85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4" name="Google Shape;85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855" name="Google Shape;855;p45"/>
          <p:cNvSpPr txBox="1"/>
          <p:nvPr/>
        </p:nvSpPr>
        <p:spPr>
          <a:xfrm>
            <a:off x="502642" y="1844047"/>
            <a:ext cx="9772650" cy="1287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horizonte de controle (Nc) é o horizonte sobre o qual encontra-se a ação de verificação.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horizonte de previsão (Np) é o horizonte sobre o qual prediz-se o comportamento autônomo do sistema.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5"/>
          <p:cNvSpPr txBox="1"/>
          <p:nvPr/>
        </p:nvSpPr>
        <p:spPr>
          <a:xfrm>
            <a:off x="502642" y="3520970"/>
            <a:ext cx="9842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 horizonte de controle é escolhido para ser menor ou igual ao horizonte de predição.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6"/>
          <p:cNvSpPr txBox="1"/>
          <p:nvPr/>
        </p:nvSpPr>
        <p:spPr>
          <a:xfrm>
            <a:off x="129863" y="1308649"/>
            <a:ext cx="9842591" cy="413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2056" l="-618" r="0" t="-88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6"/>
          <p:cNvSpPr txBox="1"/>
          <p:nvPr/>
        </p:nvSpPr>
        <p:spPr>
          <a:xfrm>
            <a:off x="129863" y="1913647"/>
            <a:ext cx="11969210" cy="14773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784" l="-4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6"/>
          <p:cNvSpPr txBox="1"/>
          <p:nvPr/>
        </p:nvSpPr>
        <p:spPr>
          <a:xfrm>
            <a:off x="129863" y="4018121"/>
            <a:ext cx="11969210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predição do estado e da saída são baseadas em dois parâmetros para projetar o Controlador Preditivo.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🡺 Nc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 número de parâmetros necessário para alcançar a trajetória de controle futura.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🡺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Np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 tamanho da janela de otimização da junção custo.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65" name="Google Shape;865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6" name="Google Shape;86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72" name="Google Shape;87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873" name="Google Shape;87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4" name="Google Shape;874;p47"/>
          <p:cNvSpPr txBox="1"/>
          <p:nvPr/>
        </p:nvSpPr>
        <p:spPr>
          <a:xfrm>
            <a:off x="838200" y="955831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889" l="-1042" r="0" t="-23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80" name="Google Shape;88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881" name="Google Shape;88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2" name="Google Shape;882;p48"/>
          <p:cNvSpPr txBox="1"/>
          <p:nvPr/>
        </p:nvSpPr>
        <p:spPr>
          <a:xfrm>
            <a:off x="1115236" y="1317892"/>
            <a:ext cx="10515600" cy="47151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7" r="0" t="-32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88" name="Google Shape;88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889" name="Google Shape;88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0" name="Google Shape;890;p49"/>
          <p:cNvSpPr txBox="1"/>
          <p:nvPr/>
        </p:nvSpPr>
        <p:spPr>
          <a:xfrm>
            <a:off x="1289280" y="1435194"/>
            <a:ext cx="8692920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9"/>
          <p:cNvSpPr txBox="1"/>
          <p:nvPr/>
        </p:nvSpPr>
        <p:spPr>
          <a:xfrm>
            <a:off x="1289280" y="2476069"/>
            <a:ext cx="9650965" cy="8002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9"/>
          <p:cNvSpPr txBox="1"/>
          <p:nvPr/>
        </p:nvSpPr>
        <p:spPr>
          <a:xfrm>
            <a:off x="343097" y="3793943"/>
            <a:ext cx="11945505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5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9"/>
          <p:cNvSpPr/>
          <p:nvPr/>
        </p:nvSpPr>
        <p:spPr>
          <a:xfrm>
            <a:off x="2726142" y="4718793"/>
            <a:ext cx="6777240" cy="84760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899" name="Google Shape;899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900" name="Google Shape;90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1" name="Google Shape;90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921" y="3724434"/>
            <a:ext cx="8007237" cy="786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6362" y="2064067"/>
            <a:ext cx="8126356" cy="101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6362" y="1202531"/>
            <a:ext cx="6146476" cy="652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60719" y="5136357"/>
            <a:ext cx="7817640" cy="10112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50"/>
          <p:cNvCxnSpPr/>
          <p:nvPr/>
        </p:nvCxnSpPr>
        <p:spPr>
          <a:xfrm>
            <a:off x="994410" y="2064067"/>
            <a:ext cx="8987790" cy="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994410" y="3382327"/>
            <a:ext cx="8987790" cy="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994410" y="4765357"/>
            <a:ext cx="8987790" cy="0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1"/>
          <p:cNvSpPr txBox="1"/>
          <p:nvPr>
            <p:ph idx="1" type="body"/>
          </p:nvPr>
        </p:nvSpPr>
        <p:spPr>
          <a:xfrm>
            <a:off x="332028" y="1299702"/>
            <a:ext cx="116814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As matrizes F e </a:t>
            </a:r>
            <a:r>
              <a:rPr lang="pt-BR">
                <a:latin typeface="Noto Sans Symbols"/>
                <a:ea typeface="Noto Sans Symbols"/>
                <a:cs typeface="Noto Sans Symbols"/>
                <a:sym typeface="Noto Sans Symbols"/>
              </a:rPr>
              <a:t>ϕ </a:t>
            </a:r>
            <a:r>
              <a:rPr lang="pt-BR"/>
              <a:t>são definidas conforme o </a:t>
            </a:r>
            <a:r>
              <a:rPr lang="pt-BR">
                <a:solidFill>
                  <a:srgbClr val="FF0000"/>
                </a:solidFill>
              </a:rPr>
              <a:t>horizonte de predição</a:t>
            </a:r>
            <a:r>
              <a:rPr lang="pt-BR"/>
              <a:t> Np e </a:t>
            </a:r>
            <a:r>
              <a:rPr lang="pt-BR">
                <a:solidFill>
                  <a:srgbClr val="00B050"/>
                </a:solidFill>
              </a:rPr>
              <a:t>horizonte de controle</a:t>
            </a:r>
            <a:r>
              <a:rPr lang="pt-BR"/>
              <a:t> Nc: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13" name="Google Shape;91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4" name="Google Shape;91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915" name="Google Shape;915;p51"/>
          <p:cNvSpPr/>
          <p:nvPr/>
        </p:nvSpPr>
        <p:spPr>
          <a:xfrm>
            <a:off x="211874" y="2639804"/>
            <a:ext cx="11489968" cy="21275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1"/>
          <p:cNvSpPr/>
          <p:nvPr/>
        </p:nvSpPr>
        <p:spPr>
          <a:xfrm>
            <a:off x="332028" y="5472619"/>
            <a:ext cx="76783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 e C são as matrizes aumentadas do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1"/>
          <p:cNvSpPr/>
          <p:nvPr/>
        </p:nvSpPr>
        <p:spPr>
          <a:xfrm>
            <a:off x="2716402" y="2136383"/>
            <a:ext cx="4832695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23" name="Google Shape;92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924" name="Google Shape;92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5" name="Google Shape;925;p52"/>
          <p:cNvSpPr txBox="1"/>
          <p:nvPr/>
        </p:nvSpPr>
        <p:spPr>
          <a:xfrm>
            <a:off x="949712" y="1524541"/>
            <a:ext cx="10515600" cy="45307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1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2"/>
          <p:cNvSpPr txBox="1"/>
          <p:nvPr/>
        </p:nvSpPr>
        <p:spPr>
          <a:xfrm>
            <a:off x="2522034" y="5865382"/>
            <a:ext cx="1691040" cy="4909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2"/>
          <p:cNvSpPr txBox="1"/>
          <p:nvPr/>
        </p:nvSpPr>
        <p:spPr>
          <a:xfrm>
            <a:off x="4752278" y="6021142"/>
            <a:ext cx="605325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6" l="0" r="0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2"/>
          <p:cNvSpPr txBox="1"/>
          <p:nvPr/>
        </p:nvSpPr>
        <p:spPr>
          <a:xfrm>
            <a:off x="9101253" y="1100777"/>
            <a:ext cx="26077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SUGESTÃO: ITEM 1.2 DO LIVRO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State-space Models with Embedded Integrator”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52"/>
          <p:cNvSpPr/>
          <p:nvPr/>
        </p:nvSpPr>
        <p:spPr>
          <a:xfrm>
            <a:off x="7166610" y="1528892"/>
            <a:ext cx="1511733" cy="34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35" name="Google Shape;935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936" name="Google Shape;936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7" name="Google Shape;937;p53"/>
          <p:cNvSpPr/>
          <p:nvPr/>
        </p:nvSpPr>
        <p:spPr>
          <a:xfrm>
            <a:off x="583579" y="2421335"/>
            <a:ext cx="8147825" cy="24919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3"/>
          <p:cNvSpPr txBox="1"/>
          <p:nvPr/>
        </p:nvSpPr>
        <p:spPr>
          <a:xfrm>
            <a:off x="838200" y="1515112"/>
            <a:ext cx="3657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3"/>
          <p:cNvSpPr txBox="1"/>
          <p:nvPr/>
        </p:nvSpPr>
        <p:spPr>
          <a:xfrm>
            <a:off x="1110941" y="5357793"/>
            <a:ext cx="1999650" cy="82067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3"/>
          <p:cNvSpPr/>
          <p:nvPr/>
        </p:nvSpPr>
        <p:spPr>
          <a:xfrm>
            <a:off x="2112875" y="5080795"/>
            <a:ext cx="47262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46" name="Google Shape;94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947" name="Google Shape;94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8" name="Google Shape;948;p54"/>
          <p:cNvSpPr txBox="1"/>
          <p:nvPr/>
        </p:nvSpPr>
        <p:spPr>
          <a:xfrm>
            <a:off x="838200" y="2004142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9" name="Google Shape;949;p54"/>
          <p:cNvGrpSpPr/>
          <p:nvPr/>
        </p:nvGrpSpPr>
        <p:grpSpPr>
          <a:xfrm>
            <a:off x="1505528" y="3210624"/>
            <a:ext cx="8783286" cy="2180503"/>
            <a:chOff x="1505528" y="3087529"/>
            <a:chExt cx="8783286" cy="2180503"/>
          </a:xfrm>
        </p:grpSpPr>
        <p:sp>
          <p:nvSpPr>
            <p:cNvPr id="950" name="Google Shape;950;p54"/>
            <p:cNvSpPr/>
            <p:nvPr/>
          </p:nvSpPr>
          <p:spPr>
            <a:xfrm>
              <a:off x="1505528" y="3573161"/>
              <a:ext cx="2807854" cy="1542473"/>
            </a:xfrm>
            <a:prstGeom prst="rect">
              <a:avLst/>
            </a:prstGeom>
            <a:solidFill>
              <a:srgbClr val="F4B08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54"/>
            <p:cNvSpPr txBox="1"/>
            <p:nvPr/>
          </p:nvSpPr>
          <p:spPr>
            <a:xfrm>
              <a:off x="1505528" y="3651899"/>
              <a:ext cx="2955637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Penaliza o erro da saída para a referência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4"/>
            <p:cNvSpPr/>
            <p:nvPr/>
          </p:nvSpPr>
          <p:spPr>
            <a:xfrm rot="-5400000">
              <a:off x="5393179" y="1919945"/>
              <a:ext cx="365558" cy="275804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3" name="Google Shape;953;p54"/>
            <p:cNvCxnSpPr>
              <a:stCxn id="952" idx="1"/>
            </p:cNvCxnSpPr>
            <p:nvPr/>
          </p:nvCxnSpPr>
          <p:spPr>
            <a:xfrm flipH="1">
              <a:off x="5551058" y="3481748"/>
              <a:ext cx="24900" cy="8685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" name="Google Shape;954;p54"/>
            <p:cNvCxnSpPr/>
            <p:nvPr/>
          </p:nvCxnSpPr>
          <p:spPr>
            <a:xfrm rot="10800000">
              <a:off x="4313382" y="4350327"/>
              <a:ext cx="1237673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55" name="Google Shape;955;p54"/>
            <p:cNvSpPr/>
            <p:nvPr/>
          </p:nvSpPr>
          <p:spPr>
            <a:xfrm>
              <a:off x="7292111" y="3725559"/>
              <a:ext cx="2807854" cy="1542473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54"/>
            <p:cNvSpPr txBox="1"/>
            <p:nvPr/>
          </p:nvSpPr>
          <p:spPr>
            <a:xfrm>
              <a:off x="7333177" y="3804297"/>
              <a:ext cx="2955637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Penaliza uma variação brusca do controle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4"/>
            <p:cNvSpPr/>
            <p:nvPr/>
          </p:nvSpPr>
          <p:spPr>
            <a:xfrm rot="-5400000">
              <a:off x="7863748" y="2515893"/>
              <a:ext cx="292980" cy="1436251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381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8" name="Google Shape;958;p54"/>
            <p:cNvCxnSpPr>
              <a:stCxn id="957" idx="1"/>
            </p:cNvCxnSpPr>
            <p:nvPr/>
          </p:nvCxnSpPr>
          <p:spPr>
            <a:xfrm>
              <a:off x="8010238" y="3380509"/>
              <a:ext cx="6900" cy="288900"/>
            </a:xfrm>
            <a:prstGeom prst="straightConnector1">
              <a:avLst/>
            </a:prstGeom>
            <a:noFill/>
            <a:ln cap="flat" cmpd="sng" w="38100">
              <a:solidFill>
                <a:srgbClr val="92D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959" name="Google Shape;959;p54"/>
          <p:cNvSpPr txBox="1"/>
          <p:nvPr/>
        </p:nvSpPr>
        <p:spPr>
          <a:xfrm>
            <a:off x="5732586" y="916694"/>
            <a:ext cx="5792086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MPC baseia-se no modelo/planta, o desempenho dessa técnica fica vulnerável aos erros de modelagem e/ou os distúrbios não são computados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2025" y="5447326"/>
            <a:ext cx="6480175" cy="122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5"/>
          <p:cNvSpPr txBox="1"/>
          <p:nvPr/>
        </p:nvSpPr>
        <p:spPr>
          <a:xfrm>
            <a:off x="103029" y="942743"/>
            <a:ext cx="11885771" cy="13388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94" l="-461" r="-4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5"/>
          <p:cNvSpPr txBox="1"/>
          <p:nvPr/>
        </p:nvSpPr>
        <p:spPr>
          <a:xfrm>
            <a:off x="4465839" y="287108"/>
            <a:ext cx="24341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5"/>
          <p:cNvSpPr txBox="1"/>
          <p:nvPr/>
        </p:nvSpPr>
        <p:spPr>
          <a:xfrm>
            <a:off x="206062" y="2324429"/>
            <a:ext cx="6542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vetor que contem o setpoint é dado por: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5"/>
          <p:cNvSpPr txBox="1"/>
          <p:nvPr/>
        </p:nvSpPr>
        <p:spPr>
          <a:xfrm>
            <a:off x="772732" y="2759947"/>
            <a:ext cx="2767763" cy="5312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5"/>
          <p:cNvSpPr txBox="1"/>
          <p:nvPr/>
        </p:nvSpPr>
        <p:spPr>
          <a:xfrm>
            <a:off x="352973" y="3531965"/>
            <a:ext cx="637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função custo J reflete o objetivo do controlador.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5"/>
          <p:cNvSpPr txBox="1"/>
          <p:nvPr/>
        </p:nvSpPr>
        <p:spPr>
          <a:xfrm>
            <a:off x="1236372" y="4003516"/>
            <a:ext cx="3285964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51110" l="-4451" r="-1483" t="-28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5"/>
          <p:cNvSpPr txBox="1"/>
          <p:nvPr/>
        </p:nvSpPr>
        <p:spPr>
          <a:xfrm>
            <a:off x="3809095" y="4952292"/>
            <a:ext cx="142648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5216" l="-3845" r="-853" t="-43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5"/>
          <p:cNvSpPr txBox="1"/>
          <p:nvPr/>
        </p:nvSpPr>
        <p:spPr>
          <a:xfrm>
            <a:off x="3290733" y="4441240"/>
            <a:ext cx="2350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5"/>
          <p:cNvSpPr txBox="1"/>
          <p:nvPr/>
        </p:nvSpPr>
        <p:spPr>
          <a:xfrm>
            <a:off x="5549834" y="5301163"/>
            <a:ext cx="2807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5"/>
          <p:cNvSpPr txBox="1"/>
          <p:nvPr/>
        </p:nvSpPr>
        <p:spPr>
          <a:xfrm>
            <a:off x="5825833" y="5581382"/>
            <a:ext cx="5388334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48887" l="-1130" r="-1583" t="-311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5"/>
          <p:cNvSpPr/>
          <p:nvPr/>
        </p:nvSpPr>
        <p:spPr>
          <a:xfrm>
            <a:off x="5667574" y="5987018"/>
            <a:ext cx="4566250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77" name="Google Shape;977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8" name="Google Shape;9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6"/>
          <p:cNvSpPr txBox="1"/>
          <p:nvPr/>
        </p:nvSpPr>
        <p:spPr>
          <a:xfrm>
            <a:off x="484031" y="3401303"/>
            <a:ext cx="61947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solução ótima para o sinal de controle é dada por: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6"/>
          <p:cNvSpPr txBox="1"/>
          <p:nvPr/>
        </p:nvSpPr>
        <p:spPr>
          <a:xfrm>
            <a:off x="1822258" y="3904783"/>
            <a:ext cx="3629199" cy="36676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998" l="-11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6"/>
          <p:cNvSpPr/>
          <p:nvPr/>
        </p:nvSpPr>
        <p:spPr>
          <a:xfrm>
            <a:off x="1822258" y="5248159"/>
            <a:ext cx="149560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6"/>
          <p:cNvSpPr txBox="1"/>
          <p:nvPr/>
        </p:nvSpPr>
        <p:spPr>
          <a:xfrm>
            <a:off x="489597" y="4509494"/>
            <a:ext cx="48111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Desde que 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matriz Hessian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6"/>
          <p:cNvSpPr txBox="1"/>
          <p:nvPr/>
        </p:nvSpPr>
        <p:spPr>
          <a:xfrm>
            <a:off x="484031" y="1687127"/>
            <a:ext cx="46235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Derivada da função custo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6"/>
          <p:cNvSpPr txBox="1"/>
          <p:nvPr/>
        </p:nvSpPr>
        <p:spPr>
          <a:xfrm>
            <a:off x="1130323" y="2348520"/>
            <a:ext cx="4474174" cy="52681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6"/>
          <p:cNvSpPr txBox="1"/>
          <p:nvPr/>
        </p:nvSpPr>
        <p:spPr>
          <a:xfrm>
            <a:off x="6737613" y="2348519"/>
            <a:ext cx="917624" cy="52681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991" name="Google Shape;99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2" name="Google Shape;992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  <p:sp>
        <p:nvSpPr>
          <p:cNvPr id="993" name="Google Shape;993;p56"/>
          <p:cNvSpPr txBox="1"/>
          <p:nvPr/>
        </p:nvSpPr>
        <p:spPr>
          <a:xfrm>
            <a:off x="3317860" y="1748355"/>
            <a:ext cx="3285964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1108" l="-4266" r="-1668" t="-288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6"/>
          <p:cNvSpPr txBox="1"/>
          <p:nvPr/>
        </p:nvSpPr>
        <p:spPr>
          <a:xfrm>
            <a:off x="5368330" y="3862691"/>
            <a:ext cx="4114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Corrigir a equação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7"/>
          <p:cNvSpPr txBox="1"/>
          <p:nvPr/>
        </p:nvSpPr>
        <p:spPr>
          <a:xfrm>
            <a:off x="1039479" y="959282"/>
            <a:ext cx="114279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de controle em malha fechada – Ganhos do Controlador preditivo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57"/>
          <p:cNvSpPr txBox="1"/>
          <p:nvPr/>
        </p:nvSpPr>
        <p:spPr>
          <a:xfrm>
            <a:off x="512254" y="1493898"/>
            <a:ext cx="5937716" cy="110786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04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57"/>
          <p:cNvSpPr txBox="1"/>
          <p:nvPr/>
        </p:nvSpPr>
        <p:spPr>
          <a:xfrm>
            <a:off x="425003" y="5022761"/>
            <a:ext cx="8925060" cy="13388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81" l="-61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57"/>
          <p:cNvSpPr txBox="1"/>
          <p:nvPr/>
        </p:nvSpPr>
        <p:spPr>
          <a:xfrm>
            <a:off x="425003" y="2821344"/>
            <a:ext cx="4893972" cy="4667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20" l="-11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7"/>
          <p:cNvSpPr txBox="1"/>
          <p:nvPr/>
        </p:nvSpPr>
        <p:spPr>
          <a:xfrm>
            <a:off x="425003" y="3494511"/>
            <a:ext cx="5383370" cy="4667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883" l="-10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7"/>
          <p:cNvSpPr/>
          <p:nvPr/>
        </p:nvSpPr>
        <p:spPr>
          <a:xfrm>
            <a:off x="425003" y="4214301"/>
            <a:ext cx="3857146" cy="62991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575" l="0" r="-3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7"/>
          <p:cNvSpPr txBox="1"/>
          <p:nvPr/>
        </p:nvSpPr>
        <p:spPr>
          <a:xfrm>
            <a:off x="5318975" y="4372786"/>
            <a:ext cx="1670907" cy="32220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0753" l="-29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07" name="Google Shape;1007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8" name="Google Shape;1008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8"/>
          <p:cNvSpPr txBox="1"/>
          <p:nvPr>
            <p:ph idx="1" type="body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1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 </a:t>
            </a:r>
            <a:endParaRPr/>
          </a:p>
        </p:txBody>
      </p:sp>
      <p:sp>
        <p:nvSpPr>
          <p:cNvPr id="1014" name="Google Shape;1014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015" name="Google Shape;1015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1016" name="Google Shape;1016;p58"/>
          <p:cNvSpPr/>
          <p:nvPr/>
        </p:nvSpPr>
        <p:spPr>
          <a:xfrm>
            <a:off x="2716645" y="2312760"/>
            <a:ext cx="6758710" cy="66287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22" name="Google Shape;1022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23" name="Google Shape;1023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4" name="Google Shape;102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963" y="1551185"/>
            <a:ext cx="7376902" cy="4704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30" name="Google Shape;1030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31" name="Google Shape;103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32" name="Google Shape;103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690" y="4235028"/>
            <a:ext cx="4865650" cy="203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980" y="4147113"/>
            <a:ext cx="5683688" cy="2034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60"/>
          <p:cNvSpPr txBox="1"/>
          <p:nvPr/>
        </p:nvSpPr>
        <p:spPr>
          <a:xfrm>
            <a:off x="148590" y="1007792"/>
            <a:ext cx="11898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(adaptado do Nise): Os controladores de velocidade encontram uma ampla aplicação nos setores industrial e doméstico. Os diagramas das figuras abaixo, mostra aplicação dessa correspondente ao par turbina-gerador. Regulando a velocidade, o sistema de controle assegura que a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frequência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gerada permaneça dentro da tolerância.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Projete um Controle Preditivo baseado em Modelo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o sistema Turbina-Gerador com uma velocidade desejada de 100 m/s.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40" name="Google Shape;1040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41" name="Google Shape;104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2" name="Google Shape;1042;p61"/>
          <p:cNvSpPr txBox="1"/>
          <p:nvPr/>
        </p:nvSpPr>
        <p:spPr>
          <a:xfrm>
            <a:off x="145483" y="1223931"/>
            <a:ext cx="8051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1 – Representação no espaço de estado (digital) em malha aberta da planta: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1"/>
          <p:cNvSpPr txBox="1"/>
          <p:nvPr/>
        </p:nvSpPr>
        <p:spPr>
          <a:xfrm>
            <a:off x="468947" y="1934915"/>
            <a:ext cx="5627053" cy="5751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1"/>
          <p:cNvSpPr txBox="1"/>
          <p:nvPr/>
        </p:nvSpPr>
        <p:spPr>
          <a:xfrm>
            <a:off x="116051" y="2911307"/>
            <a:ext cx="3922549" cy="16136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1"/>
          <p:cNvSpPr/>
          <p:nvPr/>
        </p:nvSpPr>
        <p:spPr>
          <a:xfrm>
            <a:off x="4250732" y="3252101"/>
            <a:ext cx="945736" cy="4795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61"/>
          <p:cNvSpPr txBox="1"/>
          <p:nvPr/>
        </p:nvSpPr>
        <p:spPr>
          <a:xfrm>
            <a:off x="8510239" y="1760828"/>
            <a:ext cx="35665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Observador: Convertendo função de transferência para espaço de estado 🡺 Nise pag. 102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61"/>
          <p:cNvSpPr/>
          <p:nvPr/>
        </p:nvSpPr>
        <p:spPr>
          <a:xfrm>
            <a:off x="5029200" y="2911307"/>
            <a:ext cx="7393258" cy="185307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8" name="Google Shape;1048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31" y="4886939"/>
            <a:ext cx="3150269" cy="1127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54" name="Google Shape;1054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55" name="Google Shape;105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6" name="Google Shape;1056;p62"/>
          <p:cNvSpPr txBox="1"/>
          <p:nvPr/>
        </p:nvSpPr>
        <p:spPr>
          <a:xfrm>
            <a:off x="145483" y="1223931"/>
            <a:ext cx="8051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2 – Encontrar as matrizes aumentadas: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2"/>
          <p:cNvSpPr/>
          <p:nvPr/>
        </p:nvSpPr>
        <p:spPr>
          <a:xfrm>
            <a:off x="7364218" y="3867179"/>
            <a:ext cx="4628588" cy="12557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5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2"/>
          <p:cNvSpPr txBox="1"/>
          <p:nvPr/>
        </p:nvSpPr>
        <p:spPr>
          <a:xfrm>
            <a:off x="2209800" y="4665727"/>
            <a:ext cx="1646156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868" l="-185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9" name="Google Shape;1059;p62"/>
          <p:cNvGrpSpPr/>
          <p:nvPr/>
        </p:nvGrpSpPr>
        <p:grpSpPr>
          <a:xfrm>
            <a:off x="145483" y="1987826"/>
            <a:ext cx="7146048" cy="2094608"/>
            <a:chOff x="1050616" y="2220527"/>
            <a:chExt cx="7146048" cy="2094608"/>
          </a:xfrm>
        </p:grpSpPr>
        <p:sp>
          <p:nvSpPr>
            <p:cNvPr id="1060" name="Google Shape;1060;p62"/>
            <p:cNvSpPr txBox="1"/>
            <p:nvPr/>
          </p:nvSpPr>
          <p:spPr>
            <a:xfrm>
              <a:off x="1050616" y="2220527"/>
              <a:ext cx="4902689" cy="129606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2"/>
            <p:cNvSpPr txBox="1"/>
            <p:nvPr/>
          </p:nvSpPr>
          <p:spPr>
            <a:xfrm>
              <a:off x="6557464" y="2220527"/>
              <a:ext cx="1148328" cy="129606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62"/>
            <p:cNvSpPr txBox="1"/>
            <p:nvPr/>
          </p:nvSpPr>
          <p:spPr>
            <a:xfrm>
              <a:off x="7680176" y="2818792"/>
              <a:ext cx="516488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2607" l="-9411" r="-15292" t="-217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2"/>
            <p:cNvSpPr txBox="1"/>
            <p:nvPr/>
          </p:nvSpPr>
          <p:spPr>
            <a:xfrm>
              <a:off x="5931619" y="2818791"/>
              <a:ext cx="509050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32607" l="-6021" r="-16865" t="-217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4" name="Google Shape;1064;p62"/>
            <p:cNvGrpSpPr/>
            <p:nvPr/>
          </p:nvGrpSpPr>
          <p:grpSpPr>
            <a:xfrm>
              <a:off x="2781945" y="3803841"/>
              <a:ext cx="2772490" cy="511294"/>
              <a:chOff x="3069331" y="4332832"/>
              <a:chExt cx="2772490" cy="511294"/>
            </a:xfrm>
          </p:grpSpPr>
          <p:sp>
            <p:nvSpPr>
              <p:cNvPr id="1065" name="Google Shape;1065;p62"/>
              <p:cNvSpPr txBox="1"/>
              <p:nvPr/>
            </p:nvSpPr>
            <p:spPr>
              <a:xfrm>
                <a:off x="3069331" y="4332832"/>
                <a:ext cx="2180084" cy="511294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pt-BR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62"/>
              <p:cNvSpPr txBox="1"/>
              <p:nvPr/>
            </p:nvSpPr>
            <p:spPr>
              <a:xfrm>
                <a:off x="5332771" y="4552485"/>
                <a:ext cx="509050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35552" l="-5951" r="-15474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pt-BR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067" name="Google Shape;1067;p62"/>
          <p:cNvCxnSpPr/>
          <p:nvPr/>
        </p:nvCxnSpPr>
        <p:spPr>
          <a:xfrm>
            <a:off x="7404818" y="582930"/>
            <a:ext cx="0" cy="5955982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8" name="Google Shape;1068;p62"/>
          <p:cNvSpPr/>
          <p:nvPr/>
        </p:nvSpPr>
        <p:spPr>
          <a:xfrm>
            <a:off x="8309951" y="1223931"/>
            <a:ext cx="3077509" cy="66646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2"/>
          <p:cNvSpPr/>
          <p:nvPr/>
        </p:nvSpPr>
        <p:spPr>
          <a:xfrm>
            <a:off x="8307944" y="1987826"/>
            <a:ext cx="1370568" cy="666464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2"/>
          <p:cNvSpPr/>
          <p:nvPr/>
        </p:nvSpPr>
        <p:spPr>
          <a:xfrm>
            <a:off x="8324635" y="2981797"/>
            <a:ext cx="1669240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76" name="Google Shape;1076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77" name="Google Shape;107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8" name="Google Shape;1078;p63"/>
          <p:cNvSpPr txBox="1"/>
          <p:nvPr/>
        </p:nvSpPr>
        <p:spPr>
          <a:xfrm>
            <a:off x="145483" y="1223931"/>
            <a:ext cx="8051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3 – Encontrar as matrizes F e Φ: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3"/>
          <p:cNvSpPr txBox="1"/>
          <p:nvPr/>
        </p:nvSpPr>
        <p:spPr>
          <a:xfrm>
            <a:off x="412595" y="2921034"/>
            <a:ext cx="5048498" cy="22232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3"/>
          <p:cNvSpPr/>
          <p:nvPr/>
        </p:nvSpPr>
        <p:spPr>
          <a:xfrm>
            <a:off x="5865542" y="1101782"/>
            <a:ext cx="6010507" cy="9829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3"/>
          <p:cNvSpPr/>
          <p:nvPr/>
        </p:nvSpPr>
        <p:spPr>
          <a:xfrm>
            <a:off x="6321092" y="2812029"/>
            <a:ext cx="4207883" cy="233224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3"/>
          <p:cNvSpPr txBox="1"/>
          <p:nvPr/>
        </p:nvSpPr>
        <p:spPr>
          <a:xfrm>
            <a:off x="145483" y="1593262"/>
            <a:ext cx="111512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Nc = 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Np = 9;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3"/>
          <p:cNvSpPr/>
          <p:nvPr/>
        </p:nvSpPr>
        <p:spPr>
          <a:xfrm>
            <a:off x="282471" y="5773206"/>
            <a:ext cx="111145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3"/>
          <p:cNvSpPr txBox="1"/>
          <p:nvPr/>
        </p:nvSpPr>
        <p:spPr>
          <a:xfrm>
            <a:off x="245327" y="5408341"/>
            <a:ext cx="15611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Lembrete: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090" name="Google Shape;1090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091" name="Google Shape;109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2" name="Google Shape;1092;p64"/>
          <p:cNvSpPr txBox="1"/>
          <p:nvPr/>
        </p:nvSpPr>
        <p:spPr>
          <a:xfrm>
            <a:off x="145483" y="1223931"/>
            <a:ext cx="8051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4 – Encontrar o sinal de controle Δu.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64"/>
          <p:cNvSpPr txBox="1"/>
          <p:nvPr/>
        </p:nvSpPr>
        <p:spPr>
          <a:xfrm>
            <a:off x="145483" y="1829743"/>
            <a:ext cx="3825214" cy="3126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724" l="-111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4"/>
          <p:cNvSpPr txBox="1"/>
          <p:nvPr/>
        </p:nvSpPr>
        <p:spPr>
          <a:xfrm>
            <a:off x="4897118" y="1822266"/>
            <a:ext cx="72641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777" l="-8402" r="-4201" t="-44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4"/>
          <p:cNvSpPr txBox="1"/>
          <p:nvPr/>
        </p:nvSpPr>
        <p:spPr>
          <a:xfrm>
            <a:off x="5963251" y="1822266"/>
            <a:ext cx="880690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777" l="-3447" r="-27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4"/>
          <p:cNvSpPr/>
          <p:nvPr/>
        </p:nvSpPr>
        <p:spPr>
          <a:xfrm>
            <a:off x="0" y="3006510"/>
            <a:ext cx="4573880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4"/>
          <p:cNvSpPr/>
          <p:nvPr/>
        </p:nvSpPr>
        <p:spPr>
          <a:xfrm>
            <a:off x="65025" y="3587462"/>
            <a:ext cx="126387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-2898" t="-81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64"/>
          <p:cNvSpPr txBox="1"/>
          <p:nvPr/>
        </p:nvSpPr>
        <p:spPr>
          <a:xfrm>
            <a:off x="2058090" y="3895482"/>
            <a:ext cx="1138838" cy="225984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64"/>
          <p:cNvSpPr txBox="1"/>
          <p:nvPr/>
        </p:nvSpPr>
        <p:spPr>
          <a:xfrm>
            <a:off x="1442409" y="4867249"/>
            <a:ext cx="615681" cy="28238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7019" l="-10889" r="-2969" t="-21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4"/>
          <p:cNvSpPr txBox="1"/>
          <p:nvPr/>
        </p:nvSpPr>
        <p:spPr>
          <a:xfrm>
            <a:off x="9110726" y="2875010"/>
            <a:ext cx="2813463" cy="102047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4"/>
          <p:cNvSpPr txBox="1"/>
          <p:nvPr/>
        </p:nvSpPr>
        <p:spPr>
          <a:xfrm>
            <a:off x="5636002" y="3834861"/>
            <a:ext cx="1426481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5216" l="-3845" r="-853" t="-43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5725881" y="4867249"/>
            <a:ext cx="2541658" cy="102047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7347544" y="3781175"/>
            <a:ext cx="91999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4589" l="0" r="-5296" t="-81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4" name="Google Shape;1104;p64"/>
          <p:cNvCxnSpPr/>
          <p:nvPr/>
        </p:nvCxnSpPr>
        <p:spPr>
          <a:xfrm>
            <a:off x="4741148" y="557561"/>
            <a:ext cx="0" cy="5981351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5" name="Google Shape;1105;p64"/>
          <p:cNvCxnSpPr/>
          <p:nvPr/>
        </p:nvCxnSpPr>
        <p:spPr>
          <a:xfrm>
            <a:off x="8610600" y="604936"/>
            <a:ext cx="0" cy="5981351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11" name="Google Shape;1111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12" name="Google Shape;1112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3" name="Google Shape;1113;p65"/>
          <p:cNvSpPr txBox="1"/>
          <p:nvPr/>
        </p:nvSpPr>
        <p:spPr>
          <a:xfrm>
            <a:off x="145483" y="1223931"/>
            <a:ext cx="8051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5 – Encontrar o valor dos ganhos.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5"/>
          <p:cNvSpPr/>
          <p:nvPr/>
        </p:nvSpPr>
        <p:spPr>
          <a:xfrm>
            <a:off x="313927" y="1882581"/>
            <a:ext cx="3857146" cy="6299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650" l="0" r="-3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5"/>
          <p:cNvSpPr txBox="1"/>
          <p:nvPr/>
        </p:nvSpPr>
        <p:spPr>
          <a:xfrm>
            <a:off x="7067125" y="4604778"/>
            <a:ext cx="977704" cy="3319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9997" l="-9315" r="-14905" t="-218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5"/>
          <p:cNvSpPr/>
          <p:nvPr/>
        </p:nvSpPr>
        <p:spPr>
          <a:xfrm>
            <a:off x="6901231" y="2031881"/>
            <a:ext cx="480940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Kmpc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1.0e+03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(0.0199    0.5032    4.3529    0.0058)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5"/>
          <p:cNvSpPr/>
          <p:nvPr/>
        </p:nvSpPr>
        <p:spPr>
          <a:xfrm>
            <a:off x="313927" y="2736250"/>
            <a:ext cx="4639988" cy="11128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65"/>
          <p:cNvSpPr txBox="1"/>
          <p:nvPr/>
        </p:nvSpPr>
        <p:spPr>
          <a:xfrm>
            <a:off x="6966764" y="3862090"/>
            <a:ext cx="1426096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998" l="-3845" r="-341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9" name="Google Shape;1119;p65"/>
          <p:cNvCxnSpPr/>
          <p:nvPr/>
        </p:nvCxnSpPr>
        <p:spPr>
          <a:xfrm>
            <a:off x="5984488" y="922126"/>
            <a:ext cx="111512" cy="5174166"/>
          </a:xfrm>
          <a:prstGeom prst="straightConnector1">
            <a:avLst/>
          </a:prstGeom>
          <a:noFill/>
          <a:ln cap="flat" cmpd="sng" w="698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0" name="Google Shape;1120;p65"/>
          <p:cNvSpPr txBox="1"/>
          <p:nvPr/>
        </p:nvSpPr>
        <p:spPr>
          <a:xfrm>
            <a:off x="436203" y="4169867"/>
            <a:ext cx="882357" cy="223061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26" name="Google Shape;1126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27" name="Google Shape;1127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8" name="Google Shape;1128;p66"/>
          <p:cNvSpPr/>
          <p:nvPr/>
        </p:nvSpPr>
        <p:spPr>
          <a:xfrm>
            <a:off x="3581400" y="989688"/>
            <a:ext cx="5741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1.3.3 MATLAB Tutorial: Computation of MPC Gains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66"/>
          <p:cNvSpPr txBox="1"/>
          <p:nvPr/>
        </p:nvSpPr>
        <p:spPr>
          <a:xfrm>
            <a:off x="323850" y="1567696"/>
            <a:ext cx="363474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 = [500];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 = [1 14 43 30];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 = tf(num,den)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[Am, Bm, Cm, Dm] = tf2ss(num,den);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PlantSS = ss(Plant);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[Ap,Bp,Cp,Dp] = c2dm(Am,Bm,Cm,Dm,0.1);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 = 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 = 9;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[m1,n1]=size(Cp);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[n1,n_in]=size(Bp);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Ae=eye(n1+m1,n1+m1);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Ae(1:n1,1:n1)=Ap;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Ae(n1+1:n1+m1,1:n1)=Cp*Ap;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Be=zeros(n1+m1,n_in);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Be(1:n1,:)=Bp;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Be(n1+1:n1+m1,:)=Cp*Bp;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Ce=zeros(m1,n1+m1);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Ce(:,n1+1:n1+m1)=eye(m1,m1);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0" name="Google Shape;1130;p66"/>
          <p:cNvCxnSpPr/>
          <p:nvPr/>
        </p:nvCxnSpPr>
        <p:spPr>
          <a:xfrm>
            <a:off x="4038600" y="1359020"/>
            <a:ext cx="0" cy="5179892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1" name="Google Shape;1131;p66"/>
          <p:cNvSpPr/>
          <p:nvPr/>
        </p:nvSpPr>
        <p:spPr>
          <a:xfrm>
            <a:off x="4259580" y="1567696"/>
            <a:ext cx="251841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BarRs=ones(Np,1);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PhiPhi= Phi'*Phi;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PhiF= Phi'*F;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PhiR=Phi'*BarRs;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66"/>
          <p:cNvSpPr/>
          <p:nvPr/>
        </p:nvSpPr>
        <p:spPr>
          <a:xfrm>
            <a:off x="4259580" y="3119021"/>
            <a:ext cx="302133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N_sim=100;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setpoint =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r=setpoint*ones(N_sim,1);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66"/>
          <p:cNvSpPr/>
          <p:nvPr/>
        </p:nvSpPr>
        <p:spPr>
          <a:xfrm>
            <a:off x="4259580" y="4855012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DeltaU=inv(PhiPhi+0.2*eye(Nc,Nc))*(PhiR*r(kk)-PhiF*Xf);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Kmpc = [1 0 0 0]*inv(PhiPhi+0.2*eye(Nc,Nc))*(PhiF);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deltau=DeltaU(1,1);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u=u+deltau;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39" name="Google Shape;113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40" name="Google Shape;114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41" name="Google Shape;114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68730"/>
            <a:ext cx="5334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7930" y="1268730"/>
            <a:ext cx="53340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48" name="Google Shape;1148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49" name="Google Shape;1149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0" name="Google Shape;1150;p68"/>
          <p:cNvSpPr/>
          <p:nvPr/>
        </p:nvSpPr>
        <p:spPr>
          <a:xfrm>
            <a:off x="297180" y="4522796"/>
            <a:ext cx="896112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setpoint = 10</a:t>
            </a:r>
            <a:r>
              <a:rPr b="1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r=setpoint*ones(N_sim,1);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u=0; </a:t>
            </a:r>
            <a:r>
              <a:rPr b="0" i="0" lang="pt-BR" sz="1600" u="none" cap="none" strike="noStrike">
                <a:solidFill>
                  <a:srgbClr val="228B22"/>
                </a:solidFill>
                <a:latin typeface="Courier New"/>
                <a:ea typeface="Courier New"/>
                <a:cs typeface="Courier New"/>
                <a:sym typeface="Courier New"/>
              </a:rPr>
              <a:t>% u(k-1) 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y=0;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kk=1:N_sim;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DeltaU=inv(PhiPhi+</a:t>
            </a:r>
            <a:r>
              <a:rPr b="1" i="0" lang="pt-BR" sz="16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i="0" lang="pt-B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*eye(Nc,Nc))*(PhiR*r(kk)-PhiF*Xf);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1" name="Google Shape;115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52" y="1940278"/>
            <a:ext cx="4275817" cy="1530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740" y="845820"/>
            <a:ext cx="6355080" cy="476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58" name="Google Shape;115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59" name="Google Shape;115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0" name="Google Shape;1160;p69"/>
          <p:cNvSpPr txBox="1"/>
          <p:nvPr/>
        </p:nvSpPr>
        <p:spPr>
          <a:xfrm>
            <a:off x="354330" y="1497330"/>
            <a:ext cx="368427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Exercícios: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Problemas 1.1 a 1.6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 o Matlab para auxiliar na demonstração dos resultados.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1" name="Google Shape;116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826" y="870698"/>
            <a:ext cx="5493476" cy="498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70"/>
          <p:cNvSpPr/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" id="1167" name="Google Shape;116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0147" y="3558790"/>
            <a:ext cx="4782173" cy="29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70"/>
          <p:cNvSpPr/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0"/>
          <p:cNvSpPr/>
          <p:nvPr/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" id="1170" name="Google Shape;1170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6373" y="1047431"/>
            <a:ext cx="5876736" cy="167486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70"/>
          <p:cNvSpPr txBox="1"/>
          <p:nvPr>
            <p:ph idx="10" type="dt"/>
          </p:nvPr>
        </p:nvSpPr>
        <p:spPr>
          <a:xfrm>
            <a:off x="630803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72" name="Google Shape;1172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73" name="Google Shape;1173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307" y="1425554"/>
            <a:ext cx="5444315" cy="129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775" y="3890554"/>
            <a:ext cx="3555993" cy="214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71"/>
          <p:cNvGrpSpPr/>
          <p:nvPr/>
        </p:nvGrpSpPr>
        <p:grpSpPr>
          <a:xfrm>
            <a:off x="169891" y="1686213"/>
            <a:ext cx="4776182" cy="4609571"/>
            <a:chOff x="169891" y="1686213"/>
            <a:chExt cx="4776182" cy="4609571"/>
          </a:xfrm>
        </p:grpSpPr>
        <p:pic>
          <p:nvPicPr>
            <p:cNvPr id="1180" name="Google Shape;1180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9891" y="1686213"/>
              <a:ext cx="4776182" cy="4609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71"/>
            <p:cNvSpPr/>
            <p:nvPr/>
          </p:nvSpPr>
          <p:spPr>
            <a:xfrm>
              <a:off x="360218" y="5735782"/>
              <a:ext cx="1311564" cy="1016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2" name="Google Shape;1182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83" name="Google Shape;1183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4" name="Google Shape;1184;p71"/>
          <p:cNvSpPr txBox="1"/>
          <p:nvPr/>
        </p:nvSpPr>
        <p:spPr>
          <a:xfrm>
            <a:off x="3150524" y="1072342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MPC – Matlab/Simulink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71"/>
          <p:cNvGrpSpPr/>
          <p:nvPr/>
        </p:nvGrpSpPr>
        <p:grpSpPr>
          <a:xfrm>
            <a:off x="2768138" y="1656128"/>
            <a:ext cx="4832378" cy="1743075"/>
            <a:chOff x="2768138" y="1656128"/>
            <a:chExt cx="4832378" cy="1743075"/>
          </a:xfrm>
        </p:grpSpPr>
        <p:pic>
          <p:nvPicPr>
            <p:cNvPr id="1186" name="Google Shape;11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38391" y="1656128"/>
              <a:ext cx="1762125" cy="1743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7" name="Google Shape;1187;p71"/>
            <p:cNvCxnSpPr/>
            <p:nvPr/>
          </p:nvCxnSpPr>
          <p:spPr>
            <a:xfrm flipH="1" rot="10800000">
              <a:off x="2768138" y="2194560"/>
              <a:ext cx="3158837" cy="1204643"/>
            </a:xfrm>
            <a:prstGeom prst="straightConnector1">
              <a:avLst/>
            </a:prstGeom>
            <a:noFill/>
            <a:ln cap="flat" cmpd="sng" w="57150">
              <a:solidFill>
                <a:srgbClr val="171616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88" name="Google Shape;1188;p71"/>
          <p:cNvSpPr/>
          <p:nvPr/>
        </p:nvSpPr>
        <p:spPr>
          <a:xfrm>
            <a:off x="7870960" y="1686213"/>
            <a:ext cx="384079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measured output signal (mo);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signal (ref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measured disturbance signal (md);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manipulated variables (mv).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71"/>
          <p:cNvSpPr/>
          <p:nvPr/>
        </p:nvSpPr>
        <p:spPr>
          <a:xfrm>
            <a:off x="7870960" y="5247109"/>
            <a:ext cx="295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71"/>
          <p:cNvSpPr txBox="1"/>
          <p:nvPr/>
        </p:nvSpPr>
        <p:spPr>
          <a:xfrm>
            <a:off x="5024582" y="3916218"/>
            <a:ext cx="708429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utilizar o bloco MPC no Simulink é necessário configurar e compilar o MPC object no Matlab;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planta faz parte da configuração e compilação no MPC object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196" name="Google Shape;1196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197" name="Google Shape;1197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98" name="Google Shape;11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3661" y="1452541"/>
            <a:ext cx="4114800" cy="40926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72"/>
          <p:cNvGrpSpPr/>
          <p:nvPr/>
        </p:nvGrpSpPr>
        <p:grpSpPr>
          <a:xfrm>
            <a:off x="0" y="1452540"/>
            <a:ext cx="7491327" cy="4044358"/>
            <a:chOff x="4528184" y="1595562"/>
            <a:chExt cx="7491327" cy="4044358"/>
          </a:xfrm>
        </p:grpSpPr>
        <p:sp>
          <p:nvSpPr>
            <p:cNvPr id="1200" name="Google Shape;1200;p72"/>
            <p:cNvSpPr txBox="1"/>
            <p:nvPr/>
          </p:nvSpPr>
          <p:spPr>
            <a:xfrm>
              <a:off x="4528184" y="1668781"/>
              <a:ext cx="4461164" cy="2585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MPCOBJ = mpc (MODELS,TS,P,M, W)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MODELS: Planta;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TS: Tempo de Amostragem;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 : Np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M: 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W: peso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1" name="Google Shape;1201;p72"/>
            <p:cNvGrpSpPr/>
            <p:nvPr/>
          </p:nvGrpSpPr>
          <p:grpSpPr>
            <a:xfrm>
              <a:off x="8610600" y="1595562"/>
              <a:ext cx="3408911" cy="4044358"/>
              <a:chOff x="5651962" y="1710604"/>
              <a:chExt cx="3408911" cy="4044358"/>
            </a:xfrm>
          </p:grpSpPr>
          <p:pic>
            <p:nvPicPr>
              <p:cNvPr id="1202" name="Google Shape;1202;p7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651962" y="1710604"/>
                <a:ext cx="3408911" cy="40443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3" name="Google Shape;1203;p72"/>
              <p:cNvSpPr/>
              <p:nvPr/>
            </p:nvSpPr>
            <p:spPr>
              <a:xfrm>
                <a:off x="6409457" y="2496188"/>
                <a:ext cx="8258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pt-BR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MPCOBJ</a:t>
                </a:r>
                <a:endParaRPr b="0" i="0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1208" name="Google Shape;120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9" y="1135520"/>
            <a:ext cx="5291666" cy="4722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479" y="2432302"/>
            <a:ext cx="6754697" cy="1857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11" name="Google Shape;1211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17" name="Google Shape;1217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218" name="Google Shape;1218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19" name="Google Shape;121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5" y="1106527"/>
            <a:ext cx="11580658" cy="529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25" name="Google Shape;1225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226" name="Google Shape;1226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27" name="Google Shape;122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6" y="1052894"/>
            <a:ext cx="11028243" cy="51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33" name="Google Shape;123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234" name="Google Shape;123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35" name="Google Shape;123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324" y="880400"/>
            <a:ext cx="4948402" cy="5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583" y="1335986"/>
            <a:ext cx="6218647" cy="2226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236" y="4694220"/>
            <a:ext cx="1490251" cy="1152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7667" y="4694219"/>
            <a:ext cx="1356502" cy="786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4672" y="4694220"/>
            <a:ext cx="555003" cy="5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5305" y="4694219"/>
            <a:ext cx="642447" cy="11527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1" name="Google Shape;1241;p76"/>
          <p:cNvCxnSpPr/>
          <p:nvPr/>
        </p:nvCxnSpPr>
        <p:spPr>
          <a:xfrm>
            <a:off x="1875826" y="4561550"/>
            <a:ext cx="0" cy="1713847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2" name="Google Shape;1242;p76"/>
          <p:cNvCxnSpPr/>
          <p:nvPr/>
        </p:nvCxnSpPr>
        <p:spPr>
          <a:xfrm>
            <a:off x="3099371" y="4567648"/>
            <a:ext cx="0" cy="1713847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3" name="Google Shape;1243;p76"/>
          <p:cNvCxnSpPr/>
          <p:nvPr/>
        </p:nvCxnSpPr>
        <p:spPr>
          <a:xfrm>
            <a:off x="4636440" y="4557198"/>
            <a:ext cx="0" cy="1713847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49" name="Google Shape;124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250" name="Google Shape;125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51" name="Google Shape;125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155" y="1028857"/>
            <a:ext cx="9901645" cy="52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57" name="Google Shape;1257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258" name="Google Shape;1258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59" name="Google Shape;125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3895" y="778509"/>
            <a:ext cx="7257723" cy="28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00518"/>
            <a:ext cx="5857385" cy="2879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200" y="1055479"/>
            <a:ext cx="3262855" cy="204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5890" y="3765984"/>
            <a:ext cx="3718799" cy="27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68" name="Google Shape;1268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269" name="Google Shape;1269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0" name="Google Shape;1270;p79"/>
          <p:cNvSpPr txBox="1"/>
          <p:nvPr/>
        </p:nvSpPr>
        <p:spPr>
          <a:xfrm>
            <a:off x="329514" y="1318054"/>
            <a:ext cx="52392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1" name="Google Shape;127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807305"/>
            <a:ext cx="3525884" cy="18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54595"/>
            <a:ext cx="9175044" cy="960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78" name="Google Shape;1278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279" name="Google Shape;1279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80" name="Google Shape;128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48000" y="-171450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86" name="Google Shape;1286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7" name="Google Shape;1287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pic>
        <p:nvPicPr>
          <p:cNvPr id="1288" name="Google Shape;128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294" name="Google Shape;1294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295" name="Google Shape;1295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96" name="Google Shape;129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4132" y="-531652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02" name="Google Shape;1302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303" name="Google Shape;1303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4" name="Google Shape;1304;p83"/>
          <p:cNvSpPr txBox="1"/>
          <p:nvPr/>
        </p:nvSpPr>
        <p:spPr>
          <a:xfrm>
            <a:off x="1460932" y="1072342"/>
            <a:ext cx="98376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 de um Controlador Peditivo (MPC) - Cosimulação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5" name="Google Shape;130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8745" y="3051389"/>
            <a:ext cx="1032517" cy="103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83"/>
          <p:cNvSpPr txBox="1"/>
          <p:nvPr/>
        </p:nvSpPr>
        <p:spPr>
          <a:xfrm>
            <a:off x="82618" y="1771777"/>
            <a:ext cx="119943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Dada a planta (equação abaixo), projete um controlador preditivo, para um setpoint = 10, Nc = 3, Np =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83"/>
          <p:cNvSpPr txBox="1"/>
          <p:nvPr/>
        </p:nvSpPr>
        <p:spPr>
          <a:xfrm>
            <a:off x="4528745" y="2248471"/>
            <a:ext cx="21546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83"/>
          <p:cNvSpPr txBox="1"/>
          <p:nvPr/>
        </p:nvSpPr>
        <p:spPr>
          <a:xfrm>
            <a:off x="390901" y="4716892"/>
            <a:ext cx="4857244" cy="456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 MPC – Matlab/Simulink;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14" name="Google Shape;1314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15" name="Google Shape;131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679" y="913137"/>
            <a:ext cx="5957497" cy="5305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21" name="Google Shape;1321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2" name="Google Shape;1322;p85"/>
          <p:cNvSpPr txBox="1"/>
          <p:nvPr/>
        </p:nvSpPr>
        <p:spPr>
          <a:xfrm>
            <a:off x="3150524" y="1072342"/>
            <a:ext cx="50028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do MPC object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p85"/>
          <p:cNvGrpSpPr/>
          <p:nvPr/>
        </p:nvGrpSpPr>
        <p:grpSpPr>
          <a:xfrm>
            <a:off x="4528184" y="1595562"/>
            <a:ext cx="7491327" cy="4044358"/>
            <a:chOff x="4528184" y="1595562"/>
            <a:chExt cx="7491327" cy="4044358"/>
          </a:xfrm>
        </p:grpSpPr>
        <p:sp>
          <p:nvSpPr>
            <p:cNvPr id="1324" name="Google Shape;1324;p85"/>
            <p:cNvSpPr txBox="1"/>
            <p:nvPr/>
          </p:nvSpPr>
          <p:spPr>
            <a:xfrm>
              <a:off x="4528184" y="1668781"/>
              <a:ext cx="4461164" cy="2585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MPCOBJ = mpc (MODELS,TS,P,M, W)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MODELS: Planta;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TS: Tempo de Amostragem;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 : Np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M: 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W: peso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5" name="Google Shape;1325;p85"/>
            <p:cNvGrpSpPr/>
            <p:nvPr/>
          </p:nvGrpSpPr>
          <p:grpSpPr>
            <a:xfrm>
              <a:off x="8610600" y="1595562"/>
              <a:ext cx="3408911" cy="4044358"/>
              <a:chOff x="5651962" y="1710604"/>
              <a:chExt cx="3408911" cy="4044358"/>
            </a:xfrm>
          </p:grpSpPr>
          <p:pic>
            <p:nvPicPr>
              <p:cNvPr id="1326" name="Google Shape;1326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651962" y="1710604"/>
                <a:ext cx="3408911" cy="40443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7" name="Google Shape;1327;p85"/>
              <p:cNvSpPr/>
              <p:nvPr/>
            </p:nvSpPr>
            <p:spPr>
              <a:xfrm>
                <a:off x="6409457" y="2496188"/>
                <a:ext cx="8258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pt-BR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MPCOBJ</a:t>
                </a:r>
                <a:endParaRPr b="0" i="0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28" name="Google Shape;1328;p85"/>
          <p:cNvSpPr/>
          <p:nvPr/>
        </p:nvSpPr>
        <p:spPr>
          <a:xfrm>
            <a:off x="692727" y="2226055"/>
            <a:ext cx="65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85"/>
          <p:cNvSpPr/>
          <p:nvPr/>
        </p:nvSpPr>
        <p:spPr>
          <a:xfrm>
            <a:off x="203200" y="1639429"/>
            <a:ext cx="6096000" cy="116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MPCobj = mpc(Plant)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MPCobj = mpc(Plant,Ts)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MPCobj = mpc(Plant,Ts,p,m,W,MV,OV,DV)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MPCobj = mpc(Models,Ts,p,m,W,MV,OV,DV)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0" name="Google Shape;1330;p85"/>
          <p:cNvCxnSpPr/>
          <p:nvPr/>
        </p:nvCxnSpPr>
        <p:spPr>
          <a:xfrm>
            <a:off x="3925456" y="1496291"/>
            <a:ext cx="34691" cy="311602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6"/>
          <p:cNvSpPr/>
          <p:nvPr/>
        </p:nvSpPr>
        <p:spPr>
          <a:xfrm>
            <a:off x="484632" y="485804"/>
            <a:ext cx="2686328" cy="3510776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rgbClr val="6E2D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336" name="Google Shape;133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34" y="1178196"/>
            <a:ext cx="2400376" cy="20943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86"/>
          <p:cNvSpPr/>
          <p:nvPr/>
        </p:nvSpPr>
        <p:spPr>
          <a:xfrm>
            <a:off x="3347949" y="485804"/>
            <a:ext cx="2686328" cy="3510776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rgbClr val="6E2D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application, email&#10;&#10;Description automatically generated" id="1338" name="Google Shape;133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8169" y="1080281"/>
            <a:ext cx="2333643" cy="229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86"/>
          <p:cNvSpPr/>
          <p:nvPr/>
        </p:nvSpPr>
        <p:spPr>
          <a:xfrm>
            <a:off x="484633" y="4157449"/>
            <a:ext cx="2686328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" id="1340" name="Google Shape;1340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866" y="4901238"/>
            <a:ext cx="2333643" cy="72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86"/>
          <p:cNvSpPr/>
          <p:nvPr/>
        </p:nvSpPr>
        <p:spPr>
          <a:xfrm>
            <a:off x="3331827" y="4157449"/>
            <a:ext cx="2686328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application, Word&#10;&#10;Description automatically generated" id="1342" name="Google Shape;1342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8169" y="4972127"/>
            <a:ext cx="2333643" cy="63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86"/>
          <p:cNvSpPr txBox="1"/>
          <p:nvPr>
            <p:ph idx="10" type="dt"/>
          </p:nvPr>
        </p:nvSpPr>
        <p:spPr>
          <a:xfrm>
            <a:off x="838200" y="64020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44" name="Google Shape;1344;p86"/>
          <p:cNvSpPr/>
          <p:nvPr/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application, Word&#10;&#10;Description automatically generated" id="1345" name="Google Shape;1345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3177" y="2604895"/>
            <a:ext cx="5157201" cy="165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86"/>
          <p:cNvSpPr txBox="1"/>
          <p:nvPr>
            <p:ph idx="12" type="sldNum"/>
          </p:nvPr>
        </p:nvSpPr>
        <p:spPr>
          <a:xfrm>
            <a:off x="8610600" y="64020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graphical user interface&#10;&#10;Description automatically generated" id="1351" name="Google Shape;135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594" y="4289902"/>
            <a:ext cx="3683111" cy="16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87"/>
          <p:cNvSpPr/>
          <p:nvPr/>
        </p:nvSpPr>
        <p:spPr>
          <a:xfrm>
            <a:off x="1" y="2752928"/>
            <a:ext cx="7566298" cy="7599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87"/>
          <p:cNvSpPr/>
          <p:nvPr/>
        </p:nvSpPr>
        <p:spPr>
          <a:xfrm>
            <a:off x="4446483" y="0"/>
            <a:ext cx="73152" cy="27889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354" name="Google Shape;135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504" y="3035380"/>
            <a:ext cx="2529544" cy="276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&#10;&#10;Description automatically generated" id="1355" name="Google Shape;1355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5805" y="403282"/>
            <a:ext cx="1976145" cy="222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87"/>
          <p:cNvSpPr/>
          <p:nvPr/>
        </p:nvSpPr>
        <p:spPr>
          <a:xfrm>
            <a:off x="3173627" y="2779776"/>
            <a:ext cx="73152" cy="40782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357" name="Google Shape;1357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9389" y="3450849"/>
            <a:ext cx="3671254" cy="249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87"/>
          <p:cNvSpPr/>
          <p:nvPr/>
        </p:nvSpPr>
        <p:spPr>
          <a:xfrm>
            <a:off x="7566813" y="0"/>
            <a:ext cx="73152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359" name="Google Shape;1359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3268" y="546724"/>
            <a:ext cx="3567362" cy="28628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87"/>
          <p:cNvSpPr/>
          <p:nvPr/>
        </p:nvSpPr>
        <p:spPr>
          <a:xfrm>
            <a:off x="7566299" y="3862989"/>
            <a:ext cx="4625702" cy="7315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87"/>
          <p:cNvSpPr txBox="1"/>
          <p:nvPr>
            <p:ph idx="10" type="dt"/>
          </p:nvPr>
        </p:nvSpPr>
        <p:spPr>
          <a:xfrm>
            <a:off x="7853006" y="6400310"/>
            <a:ext cx="26683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62" name="Google Shape;1362;p87"/>
          <p:cNvSpPr txBox="1"/>
          <p:nvPr>
            <p:ph idx="12" type="sldNum"/>
          </p:nvPr>
        </p:nvSpPr>
        <p:spPr>
          <a:xfrm>
            <a:off x="10627694" y="6400310"/>
            <a:ext cx="7926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3" name="Google Shape;1363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4007" y="1239760"/>
            <a:ext cx="1863351" cy="126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1368" name="Google Shape;136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312334"/>
            <a:ext cx="5291666" cy="42333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&#10;&#10;Description automatically generated" id="1369" name="Google Shape;1369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3713" y="1522530"/>
            <a:ext cx="5291667" cy="238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71" name="Google Shape;1371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372" name="Google Shape;1372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89"/>
          <p:cNvSpPr/>
          <p:nvPr/>
        </p:nvSpPr>
        <p:spPr>
          <a:xfrm>
            <a:off x="484632" y="485804"/>
            <a:ext cx="5533524" cy="3510776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clock&#10;&#10;Description automatically generated" id="1378" name="Google Shape;137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86" y="1326065"/>
            <a:ext cx="5192217" cy="183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9"/>
          <p:cNvSpPr/>
          <p:nvPr/>
        </p:nvSpPr>
        <p:spPr>
          <a:xfrm>
            <a:off x="484633" y="4157449"/>
            <a:ext cx="2686328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, letter&#10;&#10;Description automatically generated" id="1380" name="Google Shape;138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866" y="4676625"/>
            <a:ext cx="2333643" cy="11784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89"/>
          <p:cNvSpPr/>
          <p:nvPr/>
        </p:nvSpPr>
        <p:spPr>
          <a:xfrm>
            <a:off x="3331827" y="4157449"/>
            <a:ext cx="2686328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&#10;&#10;Description automatically generated" id="1382" name="Google Shape;1382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8169" y="4756265"/>
            <a:ext cx="2333643" cy="1061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89"/>
          <p:cNvSpPr/>
          <p:nvPr/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application, email&#10;&#10;Description automatically generated" id="1384" name="Google Shape;1384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3177" y="1973138"/>
            <a:ext cx="5157201" cy="2913817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89"/>
          <p:cNvSpPr txBox="1"/>
          <p:nvPr>
            <p:ph idx="10" type="dt"/>
          </p:nvPr>
        </p:nvSpPr>
        <p:spPr>
          <a:xfrm>
            <a:off x="838200" y="64020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86" name="Google Shape;1386;p89"/>
          <p:cNvSpPr txBox="1"/>
          <p:nvPr>
            <p:ph idx="11" type="ftr"/>
          </p:nvPr>
        </p:nvSpPr>
        <p:spPr>
          <a:xfrm>
            <a:off x="4038600" y="64020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387" name="Google Shape;1387;p89"/>
          <p:cNvSpPr txBox="1"/>
          <p:nvPr>
            <p:ph idx="12" type="sldNum"/>
          </p:nvPr>
        </p:nvSpPr>
        <p:spPr>
          <a:xfrm>
            <a:off x="8610600" y="64020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8" name="Google Shape;1388;p89"/>
          <p:cNvSpPr txBox="1"/>
          <p:nvPr/>
        </p:nvSpPr>
        <p:spPr>
          <a:xfrm>
            <a:off x="6373177" y="930075"/>
            <a:ext cx="50855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02 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PROJETO UM CONTROLADOR MPC PARA CSRT – MATLAB/SIMULINK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89"/>
          <p:cNvSpPr txBox="1"/>
          <p:nvPr/>
        </p:nvSpPr>
        <p:spPr>
          <a:xfrm>
            <a:off x="6317197" y="5494906"/>
            <a:ext cx="49373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ENVIAR A PASTA DO PROJETO VIA EMAIL: título do email projetoCRST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de entrega: 21/10/2020.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395" name="Google Shape;1395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396" name="Google Shape;1396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Diagram&#10;&#10;Description automatically generated" id="1397" name="Google Shape;139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5228" y="1115209"/>
            <a:ext cx="7225797" cy="491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e8262c5763_0_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4" name="Google Shape;1404;g3e8262c5763_0_15"/>
          <p:cNvSpPr txBox="1"/>
          <p:nvPr/>
        </p:nvSpPr>
        <p:spPr>
          <a:xfrm>
            <a:off x="960825" y="1283250"/>
            <a:ext cx="49428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Substituir o bloco MPC por um Subystem </a:t>
            </a:r>
            <a:endParaRPr/>
          </a:p>
        </p:txBody>
      </p:sp>
      <p:pic>
        <p:nvPicPr>
          <p:cNvPr id="1405" name="Google Shape;1405;g3e8262c5763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25" y="1822625"/>
            <a:ext cx="6099425" cy="30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g3e8262c5763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913" y="1134176"/>
            <a:ext cx="4593550" cy="188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7" name="Google Shape;1407;g3e8262c5763_0_15"/>
          <p:cNvCxnSpPr/>
          <p:nvPr/>
        </p:nvCxnSpPr>
        <p:spPr>
          <a:xfrm flipH="1" rot="10800000">
            <a:off x="3185575" y="2347225"/>
            <a:ext cx="5262000" cy="20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08" name="Google Shape;1408;g3e8262c5763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1188" y="3029800"/>
            <a:ext cx="40290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g3e8262c5763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99975" y="3887050"/>
            <a:ext cx="2909111" cy="231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3e8262c5763_0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16" name="Google Shape;1416;g3e8262c5763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425" y="901613"/>
            <a:ext cx="7963151" cy="50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e8262c5763_0_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23" name="Google Shape;1423;g3e8262c5763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325" y="960825"/>
            <a:ext cx="9485123" cy="550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e8262c5763_0_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30" name="Google Shape;1430;g3e8262c5763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50" y="1015325"/>
            <a:ext cx="9868352" cy="517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3e8262c5763_0_136"/>
          <p:cNvSpPr txBox="1"/>
          <p:nvPr>
            <p:ph idx="12" type="sldNum"/>
          </p:nvPr>
        </p:nvSpPr>
        <p:spPr>
          <a:xfrm>
            <a:off x="8591300" y="63080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7" name="Google Shape;1437;g3e8262c5763_0_136"/>
          <p:cNvSpPr/>
          <p:nvPr/>
        </p:nvSpPr>
        <p:spPr>
          <a:xfrm>
            <a:off x="5159400" y="5341075"/>
            <a:ext cx="608700" cy="21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g3e8262c5763_0_136"/>
          <p:cNvSpPr/>
          <p:nvPr/>
        </p:nvSpPr>
        <p:spPr>
          <a:xfrm>
            <a:off x="5149225" y="5313475"/>
            <a:ext cx="608700" cy="21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9" name="Google Shape;1439;g3e8262c5763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5986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0" name="Google Shape;1440;g3e8262c5763_0_136"/>
          <p:cNvCxnSpPr/>
          <p:nvPr/>
        </p:nvCxnSpPr>
        <p:spPr>
          <a:xfrm rot="10800000">
            <a:off x="5646982" y="5413456"/>
            <a:ext cx="603600" cy="1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000000" dist="19050">
              <a:srgbClr val="FF00FF">
                <a:alpha val="80000"/>
              </a:srgbClr>
            </a:outerShdw>
          </a:effectLst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46" name="Google Shape;1446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1447" name="Google Shape;1447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48" name="Google Shape;144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75" y="1119208"/>
            <a:ext cx="10687195" cy="5338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54" name="Google Shape;1454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455" name="Google Shape;1455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56" name="Google Shape;14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562" y="1158239"/>
            <a:ext cx="10928090" cy="519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Google Shape;1461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858" y="1370368"/>
            <a:ext cx="10047650" cy="516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63" name="Google Shape;1463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</a:t>
            </a:r>
            <a:endParaRPr/>
          </a:p>
        </p:txBody>
      </p:sp>
      <p:sp>
        <p:nvSpPr>
          <p:cNvPr id="1464" name="Google Shape;1464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65" name="Google Shape;146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9022" y="4044019"/>
            <a:ext cx="2125552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93"/>
          <p:cNvSpPr txBox="1"/>
          <p:nvPr/>
        </p:nvSpPr>
        <p:spPr>
          <a:xfrm>
            <a:off x="3581400" y="785593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72" name="Google Shape;1472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73" name="Google Shape;147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965" y="1468798"/>
            <a:ext cx="10107168" cy="349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79" name="Google Shape;1479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480" name="Google Shape;1480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1" name="Google Shape;1481;p95"/>
          <p:cNvSpPr txBox="1"/>
          <p:nvPr/>
        </p:nvSpPr>
        <p:spPr>
          <a:xfrm>
            <a:off x="3431543" y="1017500"/>
            <a:ext cx="64615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 MPC – ModelSim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2" name="Google Shape;148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512" y="2025015"/>
            <a:ext cx="9553575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88" name="Google Shape;1488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489" name="Google Shape;1489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90" name="Google Shape;149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1022350"/>
            <a:ext cx="95631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496" name="Google Shape;1496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497" name="Google Shape;1497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98" name="Google Shape;149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337" y="1002030"/>
            <a:ext cx="9077325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04" name="Google Shape;1504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05" name="Google Shape;1505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6" name="Google Shape;150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737" y="999172"/>
            <a:ext cx="8772525" cy="5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12" name="Google Shape;1512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13" name="Google Shape;1513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14" name="Google Shape;1514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130" y="1054101"/>
            <a:ext cx="8376664" cy="53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20" name="Google Shape;1520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21" name="Google Shape;1521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22" name="Google Shape;152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850" y="954722"/>
            <a:ext cx="8792299" cy="5401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28" name="Google Shape;1528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29" name="Google Shape;1529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30" name="Google Shape;1530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647" y="2141220"/>
            <a:ext cx="865822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01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2" name="Google Shape;1532;p101"/>
          <p:cNvCxnSpPr/>
          <p:nvPr/>
        </p:nvCxnSpPr>
        <p:spPr>
          <a:xfrm>
            <a:off x="5318759" y="3646170"/>
            <a:ext cx="1664971" cy="89154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38" name="Google Shape;1538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39" name="Google Shape;1539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40" name="Google Shape;154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8787" y="1698625"/>
            <a:ext cx="873442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02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47" name="Google Shape;1547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48" name="Google Shape;1548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49" name="Google Shape;154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4542" y="1624905"/>
            <a:ext cx="871537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03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56" name="Google Shape;1556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57" name="Google Shape;1557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8" name="Google Shape;1558;p104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9" name="Google Shape;1559;p104"/>
          <p:cNvGrpSpPr/>
          <p:nvPr/>
        </p:nvGrpSpPr>
        <p:grpSpPr>
          <a:xfrm>
            <a:off x="1877377" y="1691640"/>
            <a:ext cx="8734425" cy="4686300"/>
            <a:chOff x="1877377" y="1691640"/>
            <a:chExt cx="8734425" cy="4686300"/>
          </a:xfrm>
        </p:grpSpPr>
        <p:pic>
          <p:nvPicPr>
            <p:cNvPr id="1560" name="Google Shape;1560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7377" y="1691640"/>
              <a:ext cx="8734425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1" name="Google Shape;1561;p104"/>
            <p:cNvSpPr/>
            <p:nvPr/>
          </p:nvSpPr>
          <p:spPr>
            <a:xfrm>
              <a:off x="5452110" y="4457700"/>
              <a:ext cx="857250" cy="38862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67" name="Google Shape;1567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68" name="Google Shape;1568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9" name="Google Shape;1569;p105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0" name="Google Shape;157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505" y="1694497"/>
            <a:ext cx="8705850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76" name="Google Shape;1576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77" name="Google Shape;1577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8" name="Google Shape;1578;p106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106"/>
          <p:cNvGrpSpPr/>
          <p:nvPr/>
        </p:nvGrpSpPr>
        <p:grpSpPr>
          <a:xfrm>
            <a:off x="1751647" y="1717357"/>
            <a:ext cx="8734425" cy="4657725"/>
            <a:chOff x="1751647" y="1717357"/>
            <a:chExt cx="8734425" cy="4657725"/>
          </a:xfrm>
        </p:grpSpPr>
        <p:pic>
          <p:nvPicPr>
            <p:cNvPr id="1580" name="Google Shape;158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51647" y="1717357"/>
              <a:ext cx="8734425" cy="465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06"/>
            <p:cNvSpPr/>
            <p:nvPr/>
          </p:nvSpPr>
          <p:spPr>
            <a:xfrm>
              <a:off x="2388870" y="4560570"/>
              <a:ext cx="2366010" cy="369332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87" name="Google Shape;1587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88" name="Google Shape;1588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9" name="Google Shape;1589;p107"/>
          <p:cNvSpPr txBox="1"/>
          <p:nvPr/>
        </p:nvSpPr>
        <p:spPr>
          <a:xfrm>
            <a:off x="3417570" y="1040130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0" name="Google Shape;1590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5" y="1689100"/>
            <a:ext cx="8705850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858" y="1370368"/>
            <a:ext cx="10047650" cy="516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597" name="Google Shape;1597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598" name="Google Shape;1598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99" name="Google Shape;1599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9022" y="4044019"/>
            <a:ext cx="2125552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108"/>
          <p:cNvSpPr txBox="1"/>
          <p:nvPr/>
        </p:nvSpPr>
        <p:spPr>
          <a:xfrm>
            <a:off x="3581400" y="785593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858" y="1370368"/>
            <a:ext cx="10047650" cy="516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07" name="Google Shape;1607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08" name="Google Shape;1608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9" name="Google Shape;1609;p109"/>
          <p:cNvSpPr txBox="1"/>
          <p:nvPr/>
        </p:nvSpPr>
        <p:spPr>
          <a:xfrm>
            <a:off x="3581400" y="785593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0" name="Google Shape;1610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6385" y="1955143"/>
            <a:ext cx="3408947" cy="3174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858" y="1370368"/>
            <a:ext cx="10047650" cy="516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17" name="Google Shape;1617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18" name="Google Shape;1618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19" name="Google Shape;1619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9022" y="4044019"/>
            <a:ext cx="2125552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10"/>
          <p:cNvSpPr txBox="1"/>
          <p:nvPr/>
        </p:nvSpPr>
        <p:spPr>
          <a:xfrm>
            <a:off x="3581400" y="785593"/>
            <a:ext cx="5989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da Co-simulação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1" name="Google Shape;1621;p1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174100"/>
            <a:ext cx="2898444" cy="337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27" name="Google Shape;1627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28" name="Google Shape;1628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29" name="Google Shape;1629;p111"/>
          <p:cNvGrpSpPr/>
          <p:nvPr/>
        </p:nvGrpSpPr>
        <p:grpSpPr>
          <a:xfrm>
            <a:off x="1295400" y="1127125"/>
            <a:ext cx="9601200" cy="5229225"/>
            <a:chOff x="1295400" y="1127125"/>
            <a:chExt cx="9601200" cy="5229225"/>
          </a:xfrm>
        </p:grpSpPr>
        <p:pic>
          <p:nvPicPr>
            <p:cNvPr id="1630" name="Google Shape;1630;p1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5400" y="1127125"/>
              <a:ext cx="9601200" cy="522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111"/>
            <p:cNvSpPr/>
            <p:nvPr/>
          </p:nvSpPr>
          <p:spPr>
            <a:xfrm>
              <a:off x="2209800" y="2579914"/>
              <a:ext cx="3352800" cy="239486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11"/>
            <p:cNvSpPr/>
            <p:nvPr/>
          </p:nvSpPr>
          <p:spPr>
            <a:xfrm>
              <a:off x="4137660" y="6000750"/>
              <a:ext cx="2400300" cy="21717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38" name="Google Shape;1638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39" name="Google Shape;1639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40" name="Google Shape;164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49655"/>
            <a:ext cx="10119186" cy="5225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46" name="Google Shape;1646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47" name="Google Shape;1647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48" name="Google Shape;1648;p113"/>
          <p:cNvGrpSpPr/>
          <p:nvPr/>
        </p:nvGrpSpPr>
        <p:grpSpPr>
          <a:xfrm>
            <a:off x="999369" y="934403"/>
            <a:ext cx="10193261" cy="5421947"/>
            <a:chOff x="999369" y="934403"/>
            <a:chExt cx="10193261" cy="5421947"/>
          </a:xfrm>
        </p:grpSpPr>
        <p:pic>
          <p:nvPicPr>
            <p:cNvPr id="1649" name="Google Shape;1649;p1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9369" y="934403"/>
              <a:ext cx="10193261" cy="54219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0" name="Google Shape;1650;p113"/>
            <p:cNvSpPr/>
            <p:nvPr/>
          </p:nvSpPr>
          <p:spPr>
            <a:xfrm>
              <a:off x="999369" y="5806440"/>
              <a:ext cx="3039231" cy="24003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56" name="Google Shape;1656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57" name="Google Shape;1657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58" name="Google Shape;165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" y="1406842"/>
            <a:ext cx="10797540" cy="4470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64" name="Google Shape;1664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65" name="Google Shape;1665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66" name="Google Shape;166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87120"/>
            <a:ext cx="11107104" cy="493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72" name="Google Shape;1672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73" name="Google Shape;1673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74" name="Google Shape;167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93" y="1245235"/>
            <a:ext cx="11569415" cy="499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80" name="Google Shape;1680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81" name="Google Shape;1681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82" name="Google Shape;1682;p117"/>
          <p:cNvGrpSpPr/>
          <p:nvPr/>
        </p:nvGrpSpPr>
        <p:grpSpPr>
          <a:xfrm>
            <a:off x="217170" y="1101090"/>
            <a:ext cx="11654271" cy="5013960"/>
            <a:chOff x="217170" y="1101090"/>
            <a:chExt cx="11654271" cy="5013960"/>
          </a:xfrm>
        </p:grpSpPr>
        <p:pic>
          <p:nvPicPr>
            <p:cNvPr id="1683" name="Google Shape;168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7170" y="1101090"/>
              <a:ext cx="11654271" cy="5013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4" name="Google Shape;1684;p117"/>
            <p:cNvSpPr/>
            <p:nvPr/>
          </p:nvSpPr>
          <p:spPr>
            <a:xfrm>
              <a:off x="217170" y="5657850"/>
              <a:ext cx="3211830" cy="148590"/>
            </a:xfrm>
            <a:prstGeom prst="rect">
              <a:avLst/>
            </a:prstGeom>
            <a:noFill/>
            <a:ln cap="flat" cmpd="sng" w="412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17"/>
            <p:cNvSpPr/>
            <p:nvPr/>
          </p:nvSpPr>
          <p:spPr>
            <a:xfrm>
              <a:off x="9349740" y="4777740"/>
              <a:ext cx="1703070" cy="18288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691" name="Google Shape;1691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692" name="Google Shape;1692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93" name="Google Shape;1693;p118"/>
          <p:cNvGrpSpPr/>
          <p:nvPr/>
        </p:nvGrpSpPr>
        <p:grpSpPr>
          <a:xfrm>
            <a:off x="609600" y="1142366"/>
            <a:ext cx="11373802" cy="5035930"/>
            <a:chOff x="609600" y="1142366"/>
            <a:chExt cx="11373802" cy="5035930"/>
          </a:xfrm>
        </p:grpSpPr>
        <p:pic>
          <p:nvPicPr>
            <p:cNvPr id="1694" name="Google Shape;1694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2460" y="1142366"/>
              <a:ext cx="11350942" cy="5035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5" name="Google Shape;1695;p118"/>
            <p:cNvSpPr/>
            <p:nvPr/>
          </p:nvSpPr>
          <p:spPr>
            <a:xfrm>
              <a:off x="609600" y="5017770"/>
              <a:ext cx="4008120" cy="1103376"/>
            </a:xfrm>
            <a:prstGeom prst="rect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01" name="Google Shape;1701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702" name="Google Shape;1702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03" name="Google Shape;1703;p119"/>
          <p:cNvGrpSpPr/>
          <p:nvPr/>
        </p:nvGrpSpPr>
        <p:grpSpPr>
          <a:xfrm>
            <a:off x="445770" y="1085850"/>
            <a:ext cx="11315699" cy="5281606"/>
            <a:chOff x="445770" y="1085850"/>
            <a:chExt cx="11315699" cy="5281606"/>
          </a:xfrm>
        </p:grpSpPr>
        <p:pic>
          <p:nvPicPr>
            <p:cNvPr id="1704" name="Google Shape;1704;p1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5770" y="1085850"/>
              <a:ext cx="11315699" cy="5281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5" name="Google Shape;1705;p119"/>
            <p:cNvSpPr/>
            <p:nvPr/>
          </p:nvSpPr>
          <p:spPr>
            <a:xfrm>
              <a:off x="525780" y="3806190"/>
              <a:ext cx="4160520" cy="22860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19"/>
            <p:cNvSpPr/>
            <p:nvPr/>
          </p:nvSpPr>
          <p:spPr>
            <a:xfrm>
              <a:off x="514350" y="5337810"/>
              <a:ext cx="3989070" cy="18288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12" name="Google Shape;1712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713" name="Google Shape;1713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14" name="Google Shape;1714;p120"/>
          <p:cNvGrpSpPr/>
          <p:nvPr/>
        </p:nvGrpSpPr>
        <p:grpSpPr>
          <a:xfrm>
            <a:off x="2059305" y="975360"/>
            <a:ext cx="8289137" cy="5471160"/>
            <a:chOff x="2059305" y="975360"/>
            <a:chExt cx="8289137" cy="5471160"/>
          </a:xfrm>
        </p:grpSpPr>
        <p:pic>
          <p:nvPicPr>
            <p:cNvPr id="1715" name="Google Shape;1715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59305" y="975360"/>
              <a:ext cx="8289137" cy="5471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6" name="Google Shape;1716;p120"/>
            <p:cNvSpPr/>
            <p:nvPr/>
          </p:nvSpPr>
          <p:spPr>
            <a:xfrm>
              <a:off x="2059305" y="2708910"/>
              <a:ext cx="8289137" cy="22860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120"/>
            <p:cNvSpPr/>
            <p:nvPr/>
          </p:nvSpPr>
          <p:spPr>
            <a:xfrm>
              <a:off x="2070735" y="4914900"/>
              <a:ext cx="8277707" cy="525780"/>
            </a:xfrm>
            <a:prstGeom prst="rect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23" name="Google Shape;1723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724" name="Google Shape;1724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25" name="Google Shape;1725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75" y="1128712"/>
            <a:ext cx="9086850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31" name="Google Shape;1731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ENG Soluções Tecnológicas</a:t>
            </a:r>
            <a:endParaRPr/>
          </a:p>
        </p:txBody>
      </p:sp>
      <p:sp>
        <p:nvSpPr>
          <p:cNvPr id="1732" name="Google Shape;1732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33" name="Google Shape;173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87" y="1166812"/>
            <a:ext cx="91916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39" name="Google Shape;1739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40" name="Google Shape;1740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1" name="Google Shape;1741;p123"/>
          <p:cNvSpPr txBox="1"/>
          <p:nvPr/>
        </p:nvSpPr>
        <p:spPr>
          <a:xfrm>
            <a:off x="266482" y="1338383"/>
            <a:ext cx="11925518" cy="253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Exercício: A rolagem de um navio pode ser estabilizada com um sistema de controle. Uma tensão aplicada aos atuadores dos lemes de inclinação cria um torque de rolagem que é aplicado ao navio. O navio, em resposta ao torque de rolagem, produz um ângulo de rolagem. Projete um MPC para controlar o ângulo de rolamento.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 de rolagem desejado = 30 graus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Percentual de Overshoot menor que 20%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2" name="Google Shape;1742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241" y="3816588"/>
            <a:ext cx="80581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23"/>
          <p:cNvSpPr txBox="1"/>
          <p:nvPr/>
        </p:nvSpPr>
        <p:spPr>
          <a:xfrm>
            <a:off x="2948241" y="5918164"/>
            <a:ext cx="8813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- Diagrama de blocos do sistema de estabilização de rolagem de um navio.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49" name="Google Shape;1749;p1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-PPGEE </a:t>
            </a:r>
            <a:endParaRPr/>
          </a:p>
        </p:txBody>
      </p:sp>
      <p:sp>
        <p:nvSpPr>
          <p:cNvPr id="1750" name="Google Shape;1750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1" name="Google Shape;1751;p124"/>
          <p:cNvSpPr txBox="1"/>
          <p:nvPr/>
        </p:nvSpPr>
        <p:spPr>
          <a:xfrm>
            <a:off x="171144" y="1042462"/>
            <a:ext cx="11838302" cy="1991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 – Os sistemas de levitação magnética são utilizados atualmente para suspender e propulsionar trens ao longo de trilhos. Um diagrama de um sistema de demonstração de levitação magnética é mostrado na Figura (a). A ação entre um ímã permanente colado à bola de pingue-pongue, o objeto a ser levitado, e um eletroímã fornece a sustentação. A quantidade de elevação pode ser controlada através de Va aplicada ao eletroímã, como mostrado na Figura (a). A elevação é controlada com a utilização de um par fotodetector para detectar a elevação da bola de pingue-pongue. Admita que o sistema de controle de elevação seja representado pela Figura (b). Com base na planta da Figura abaixo, projete um controlador preditivo que atinja o setpoint. Teste o comportamento do controlador preditivo com diferentes Ts, Np, Nc e rw.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2" name="Google Shape;1752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1040" y="3004817"/>
            <a:ext cx="4268829" cy="371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58" name="Google Shape;1758;p1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59" name="Google Shape;1759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60" name="Google Shape;1760;p125"/>
          <p:cNvSpPr txBox="1"/>
          <p:nvPr/>
        </p:nvSpPr>
        <p:spPr>
          <a:xfrm>
            <a:off x="1652765" y="801107"/>
            <a:ext cx="845453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pt-BR" sz="3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MPC para Sistema MIMO</a:t>
            </a:r>
            <a:endParaRPr b="0" i="0" sz="3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25"/>
          <p:cNvSpPr txBox="1"/>
          <p:nvPr/>
        </p:nvSpPr>
        <p:spPr>
          <a:xfrm>
            <a:off x="312949" y="1866525"/>
            <a:ext cx="5413053" cy="22365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25"/>
          <p:cNvSpPr txBox="1"/>
          <p:nvPr/>
        </p:nvSpPr>
        <p:spPr>
          <a:xfrm>
            <a:off x="182146" y="4455867"/>
            <a:ext cx="11900648" cy="1294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 1: Considerando que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número de saída é menor ou igual ao número de entrada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pois se o número de saída for maior que o número de entrada não podemos esperar um controle independente para cada saída (seja levada a erro de regime zero).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68" name="Google Shape;1768;p1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69" name="Google Shape;1769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70" name="Google Shape;1770;p126"/>
          <p:cNvSpPr txBox="1"/>
          <p:nvPr/>
        </p:nvSpPr>
        <p:spPr>
          <a:xfrm>
            <a:off x="4142916" y="736952"/>
            <a:ext cx="8291945" cy="14069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626" l="-2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26"/>
          <p:cNvSpPr txBox="1"/>
          <p:nvPr/>
        </p:nvSpPr>
        <p:spPr>
          <a:xfrm>
            <a:off x="122246" y="1874361"/>
            <a:ext cx="11745395" cy="24790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02" l="-413" r="-15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26"/>
          <p:cNvSpPr txBox="1"/>
          <p:nvPr/>
        </p:nvSpPr>
        <p:spPr>
          <a:xfrm>
            <a:off x="1305787" y="4353373"/>
            <a:ext cx="7548689" cy="216469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64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78" name="Google Shape;1778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79" name="Google Shape;1779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80" name="Google Shape;1780;p127"/>
          <p:cNvSpPr txBox="1"/>
          <p:nvPr/>
        </p:nvSpPr>
        <p:spPr>
          <a:xfrm>
            <a:off x="295020" y="965322"/>
            <a:ext cx="11896980" cy="48729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0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86" name="Google Shape;1786;p1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87" name="Google Shape;1787;p1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88" name="Google Shape;1788;p128"/>
          <p:cNvSpPr txBox="1"/>
          <p:nvPr/>
        </p:nvSpPr>
        <p:spPr>
          <a:xfrm>
            <a:off x="264050" y="1373658"/>
            <a:ext cx="8547440" cy="31304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128"/>
          <p:cNvSpPr txBox="1"/>
          <p:nvPr/>
        </p:nvSpPr>
        <p:spPr>
          <a:xfrm>
            <a:off x="2974246" y="738046"/>
            <a:ext cx="8668463" cy="14276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128"/>
          <p:cNvSpPr txBox="1"/>
          <p:nvPr/>
        </p:nvSpPr>
        <p:spPr>
          <a:xfrm>
            <a:off x="5848251" y="4399157"/>
            <a:ext cx="6197058" cy="206210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7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796" name="Google Shape;1796;p1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797" name="Google Shape;1797;p1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8" name="Google Shape;1798;p129"/>
          <p:cNvSpPr txBox="1"/>
          <p:nvPr/>
        </p:nvSpPr>
        <p:spPr>
          <a:xfrm>
            <a:off x="1297234" y="836336"/>
            <a:ext cx="9597532" cy="2067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9" name="Google Shape;1799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6334" y="3075290"/>
            <a:ext cx="8083771" cy="3281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05" name="Google Shape;1805;p1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06" name="Google Shape;1806;p1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07" name="Google Shape;1807;p130"/>
          <p:cNvSpPr/>
          <p:nvPr/>
        </p:nvSpPr>
        <p:spPr>
          <a:xfrm>
            <a:off x="202095" y="2077472"/>
            <a:ext cx="11489968" cy="21600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130"/>
          <p:cNvSpPr/>
          <p:nvPr/>
        </p:nvSpPr>
        <p:spPr>
          <a:xfrm>
            <a:off x="3112479" y="1251321"/>
            <a:ext cx="4832695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130"/>
          <p:cNvSpPr txBox="1"/>
          <p:nvPr/>
        </p:nvSpPr>
        <p:spPr>
          <a:xfrm>
            <a:off x="577001" y="4689357"/>
            <a:ext cx="88408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controle incremental ótimo dentro de uma janela de otimização é dado por: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30"/>
          <p:cNvSpPr txBox="1"/>
          <p:nvPr/>
        </p:nvSpPr>
        <p:spPr>
          <a:xfrm>
            <a:off x="2378499" y="5510559"/>
            <a:ext cx="8124875" cy="66287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16" name="Google Shape;1816;p1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17" name="Google Shape;1817;p1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8" name="Google Shape;1818;p131"/>
          <p:cNvSpPr txBox="1"/>
          <p:nvPr/>
        </p:nvSpPr>
        <p:spPr>
          <a:xfrm>
            <a:off x="3894350" y="650375"/>
            <a:ext cx="8124875" cy="6628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131"/>
          <p:cNvSpPr txBox="1"/>
          <p:nvPr/>
        </p:nvSpPr>
        <p:spPr>
          <a:xfrm>
            <a:off x="458829" y="1039597"/>
            <a:ext cx="7701498" cy="26568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527" l="-63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131"/>
          <p:cNvSpPr txBox="1"/>
          <p:nvPr/>
        </p:nvSpPr>
        <p:spPr>
          <a:xfrm>
            <a:off x="259161" y="4025973"/>
            <a:ext cx="11760064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Aplicando o princípio de 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de horizonte 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m elements em ΔU, forma-se o controle ótimo incremental para Sistema MIMO.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1" name="Google Shape;1821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9619" y="4814721"/>
            <a:ext cx="7077228" cy="11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31"/>
          <p:cNvSpPr txBox="1"/>
          <p:nvPr/>
        </p:nvSpPr>
        <p:spPr>
          <a:xfrm>
            <a:off x="259161" y="5284295"/>
            <a:ext cx="4640458" cy="92333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9934" l="-1182" r="0" t="-39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28" name="Google Shape;1828;p1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29" name="Google Shape;1829;p1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30" name="Google Shape;1830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14" y="1270931"/>
            <a:ext cx="2654540" cy="2283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1" name="Google Shape;1831;p132"/>
          <p:cNvGrpSpPr/>
          <p:nvPr/>
        </p:nvGrpSpPr>
        <p:grpSpPr>
          <a:xfrm>
            <a:off x="2904564" y="2454272"/>
            <a:ext cx="7984282" cy="3496663"/>
            <a:chOff x="249706" y="1270931"/>
            <a:chExt cx="10678259" cy="4946598"/>
          </a:xfrm>
        </p:grpSpPr>
        <p:sp>
          <p:nvSpPr>
            <p:cNvPr id="1832" name="Google Shape;1832;p132"/>
            <p:cNvSpPr txBox="1"/>
            <p:nvPr/>
          </p:nvSpPr>
          <p:spPr>
            <a:xfrm>
              <a:off x="5625616" y="1374225"/>
              <a:ext cx="5302349" cy="24622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89278" l="-1384" r="-33689" t="-2856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32"/>
            <p:cNvSpPr txBox="1"/>
            <p:nvPr/>
          </p:nvSpPr>
          <p:spPr>
            <a:xfrm>
              <a:off x="5697852" y="1920694"/>
              <a:ext cx="3312830" cy="29892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77141" l="-3447" r="-35220" t="-3142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4" name="Google Shape;1834;p1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9706" y="1270931"/>
              <a:ext cx="4931142" cy="3643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Google Shape;1835;p132"/>
            <p:cNvSpPr txBox="1"/>
            <p:nvPr/>
          </p:nvSpPr>
          <p:spPr>
            <a:xfrm>
              <a:off x="5697852" y="2624562"/>
              <a:ext cx="1882888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90624" l="-6058" r="-36795" t="-374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6" name="Google Shape;1836;p132"/>
            <p:cNvGrpSpPr/>
            <p:nvPr/>
          </p:nvGrpSpPr>
          <p:grpSpPr>
            <a:xfrm>
              <a:off x="3581400" y="3061896"/>
              <a:ext cx="5991350" cy="3155633"/>
              <a:chOff x="3581400" y="3061896"/>
              <a:chExt cx="5991350" cy="3155633"/>
            </a:xfrm>
          </p:grpSpPr>
          <p:pic>
            <p:nvPicPr>
              <p:cNvPr id="1837" name="Google Shape;1837;p1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210300" y="3061896"/>
                <a:ext cx="3362450" cy="315563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838" name="Google Shape;1838;p132"/>
              <p:cNvCxnSpPr/>
              <p:nvPr/>
            </p:nvCxnSpPr>
            <p:spPr>
              <a:xfrm>
                <a:off x="3581400" y="3463290"/>
                <a:ext cx="3276600" cy="1097280"/>
              </a:xfrm>
              <a:prstGeom prst="straightConnector1">
                <a:avLst/>
              </a:prstGeom>
              <a:noFill/>
              <a:ln cap="flat" cmpd="sng" w="444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sp>
        <p:nvSpPr>
          <p:cNvPr id="1839" name="Google Shape;1839;p132"/>
          <p:cNvSpPr txBox="1"/>
          <p:nvPr/>
        </p:nvSpPr>
        <p:spPr>
          <a:xfrm>
            <a:off x="3388658" y="742306"/>
            <a:ext cx="719784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pt-BR" sz="3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Observador de estado para MPC</a:t>
            </a:r>
            <a:endParaRPr b="0" i="0" sz="3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45" name="Google Shape;1845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46" name="Google Shape;1846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7" name="Google Shape;1847;p133"/>
          <p:cNvSpPr txBox="1"/>
          <p:nvPr/>
        </p:nvSpPr>
        <p:spPr>
          <a:xfrm>
            <a:off x="3388658" y="742306"/>
            <a:ext cx="719784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pt-BR" sz="3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Observador de estado para MPC</a:t>
            </a:r>
            <a:endParaRPr b="0" i="0" sz="3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133"/>
          <p:cNvSpPr txBox="1"/>
          <p:nvPr/>
        </p:nvSpPr>
        <p:spPr>
          <a:xfrm>
            <a:off x="470240" y="1470265"/>
            <a:ext cx="8140360" cy="46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Assumindo que o modelo no espaço de estado da planta é dado por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9" name="Google Shape;1849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40" y="1966080"/>
            <a:ext cx="5683293" cy="7497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0" name="Google Shape;1850;p133"/>
          <p:cNvGrpSpPr/>
          <p:nvPr/>
        </p:nvGrpSpPr>
        <p:grpSpPr>
          <a:xfrm>
            <a:off x="625899" y="3000166"/>
            <a:ext cx="11388437" cy="657670"/>
            <a:chOff x="625899" y="3000166"/>
            <a:chExt cx="11388437" cy="657670"/>
          </a:xfrm>
        </p:grpSpPr>
        <p:pic>
          <p:nvPicPr>
            <p:cNvPr id="1851" name="Google Shape;1851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86566" y="3049127"/>
              <a:ext cx="1907803" cy="2940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2" name="Google Shape;1852;p133"/>
            <p:cNvSpPr txBox="1"/>
            <p:nvPr/>
          </p:nvSpPr>
          <p:spPr>
            <a:xfrm>
              <a:off x="625899" y="3000166"/>
              <a:ext cx="53494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Pode-se calcular a variável de estado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133"/>
            <p:cNvSpPr txBox="1"/>
            <p:nvPr/>
          </p:nvSpPr>
          <p:spPr>
            <a:xfrm>
              <a:off x="5931376" y="3011505"/>
              <a:ext cx="6082960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4149" l="-901" r="0" t="-471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4" name="Google Shape;1854;p1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8888" y="3796674"/>
            <a:ext cx="4476495" cy="59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33"/>
          <p:cNvSpPr txBox="1"/>
          <p:nvPr/>
        </p:nvSpPr>
        <p:spPr>
          <a:xfrm>
            <a:off x="977968" y="4483983"/>
            <a:ext cx="8855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erro da estimação de estado 🡺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6" name="Google Shape;1856;p1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2849" y="4516723"/>
            <a:ext cx="2615402" cy="32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1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0120" y="4957322"/>
            <a:ext cx="3528325" cy="66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133"/>
          <p:cNvSpPr txBox="1"/>
          <p:nvPr/>
        </p:nvSpPr>
        <p:spPr>
          <a:xfrm>
            <a:off x="1130775" y="5521805"/>
            <a:ext cx="3798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 um estado de erro inicial, tem-se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9" name="Google Shape;1859;p1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393" y="5845874"/>
            <a:ext cx="3035195" cy="55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65" name="Google Shape;1865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66" name="Google Shape;1866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7" name="Google Shape;1867;p134"/>
          <p:cNvSpPr txBox="1"/>
          <p:nvPr/>
        </p:nvSpPr>
        <p:spPr>
          <a:xfrm>
            <a:off x="422564" y="1169498"/>
            <a:ext cx="10948350" cy="8720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489" l="-444" r="-49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8" name="Google Shape;1868;p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192" y="2453917"/>
            <a:ext cx="7554802" cy="917261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34"/>
          <p:cNvSpPr txBox="1"/>
          <p:nvPr/>
        </p:nvSpPr>
        <p:spPr>
          <a:xfrm>
            <a:off x="8283389" y="3224659"/>
            <a:ext cx="4566704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149" l="-1201" r="0" t="-56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134"/>
          <p:cNvSpPr txBox="1"/>
          <p:nvPr/>
        </p:nvSpPr>
        <p:spPr>
          <a:xfrm>
            <a:off x="465350" y="4331692"/>
            <a:ext cx="11261300" cy="170303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016" l="-432" r="-4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76" name="Google Shape;1876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77" name="Google Shape;1877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78" name="Google Shape;1878;p135"/>
          <p:cNvSpPr txBox="1"/>
          <p:nvPr/>
        </p:nvSpPr>
        <p:spPr>
          <a:xfrm>
            <a:off x="112059" y="1723897"/>
            <a:ext cx="10782096" cy="8796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720" l="-450" r="-9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9" name="Google Shape;1879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6020" y="2927165"/>
            <a:ext cx="4643335" cy="76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0" name="Google Shape;1880;p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4883" y="910536"/>
            <a:ext cx="5689735" cy="6908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135"/>
          <p:cNvSpPr txBox="1"/>
          <p:nvPr/>
        </p:nvSpPr>
        <p:spPr>
          <a:xfrm>
            <a:off x="151587" y="3859386"/>
            <a:ext cx="8850611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619" r="0" t="-81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2" name="Google Shape;1882;p135"/>
          <p:cNvGrpSpPr/>
          <p:nvPr/>
        </p:nvGrpSpPr>
        <p:grpSpPr>
          <a:xfrm>
            <a:off x="2275342" y="4479575"/>
            <a:ext cx="8037580" cy="1625918"/>
            <a:chOff x="1556536" y="1830110"/>
            <a:chExt cx="8037580" cy="1625918"/>
          </a:xfrm>
        </p:grpSpPr>
        <p:pic>
          <p:nvPicPr>
            <p:cNvPr id="1883" name="Google Shape;1883;p1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18178" y="1830110"/>
              <a:ext cx="5275938" cy="1625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4" name="Google Shape;1884;p135"/>
            <p:cNvSpPr/>
            <p:nvPr/>
          </p:nvSpPr>
          <p:spPr>
            <a:xfrm>
              <a:off x="4318178" y="3223260"/>
              <a:ext cx="436702" cy="14859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135"/>
            <p:cNvSpPr txBox="1"/>
            <p:nvPr/>
          </p:nvSpPr>
          <p:spPr>
            <a:xfrm>
              <a:off x="1556536" y="1996738"/>
              <a:ext cx="26497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pt-BR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MATLAB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03/11/2021</a:t>
            </a:r>
            <a:endParaRPr/>
          </a:p>
        </p:txBody>
      </p:sp>
      <p:sp>
        <p:nvSpPr>
          <p:cNvPr id="1891" name="Google Shape;1891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FAENG - PPGEE</a:t>
            </a:r>
            <a:endParaRPr/>
          </a:p>
        </p:txBody>
      </p:sp>
      <p:sp>
        <p:nvSpPr>
          <p:cNvPr id="1892" name="Google Shape;1892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3" name="Google Shape;1893;p136"/>
          <p:cNvSpPr txBox="1"/>
          <p:nvPr/>
        </p:nvSpPr>
        <p:spPr>
          <a:xfrm>
            <a:off x="185814" y="1202901"/>
            <a:ext cx="11608479" cy="48794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cce72836e3_0_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Para plantas que operam em determinados valores:</a:t>
            </a:r>
            <a:endParaRPr/>
          </a:p>
        </p:txBody>
      </p:sp>
      <p:sp>
        <p:nvSpPr>
          <p:cNvPr id="1899" name="Google Shape;1899;g3cce72836e3_0_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900" name="Google Shape;1900;g3cce72836e3_0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1901" name="Google Shape;1901;g3cce72836e3_0_27"/>
          <p:cNvSpPr/>
          <p:nvPr/>
        </p:nvSpPr>
        <p:spPr>
          <a:xfrm>
            <a:off x="4280671" y="2694933"/>
            <a:ext cx="3630600" cy="53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g3cce72836e3_0_27"/>
          <p:cNvSpPr/>
          <p:nvPr/>
        </p:nvSpPr>
        <p:spPr>
          <a:xfrm>
            <a:off x="4280671" y="3496801"/>
            <a:ext cx="4028700" cy="537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g3cce72836e3_0_27"/>
          <p:cNvSpPr/>
          <p:nvPr/>
        </p:nvSpPr>
        <p:spPr>
          <a:xfrm>
            <a:off x="4194108" y="4366109"/>
            <a:ext cx="3483600" cy="53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g3cce72836e3_0_27"/>
          <p:cNvSpPr/>
          <p:nvPr/>
        </p:nvSpPr>
        <p:spPr>
          <a:xfrm>
            <a:off x="3509818" y="2824729"/>
            <a:ext cx="933000" cy="1276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g3cce72836e3_0_27"/>
          <p:cNvSpPr/>
          <p:nvPr/>
        </p:nvSpPr>
        <p:spPr>
          <a:xfrm>
            <a:off x="554181" y="2725564"/>
            <a:ext cx="2808000" cy="15426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g3cce72836e3_0_27"/>
          <p:cNvSpPr txBox="1"/>
          <p:nvPr/>
        </p:nvSpPr>
        <p:spPr>
          <a:xfrm>
            <a:off x="554182" y="2804302"/>
            <a:ext cx="2808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Relacionada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lei de controle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g3cce72836e3_0_27"/>
          <p:cNvSpPr/>
          <p:nvPr/>
        </p:nvSpPr>
        <p:spPr>
          <a:xfrm>
            <a:off x="8506694" y="4101376"/>
            <a:ext cx="2213100" cy="1542600"/>
          </a:xfrm>
          <a:prstGeom prst="rect">
            <a:avLst/>
          </a:prstGeom>
          <a:solidFill>
            <a:srgbClr val="EC8C8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g3cce72836e3_0_27"/>
          <p:cNvSpPr txBox="1"/>
          <p:nvPr/>
        </p:nvSpPr>
        <p:spPr>
          <a:xfrm>
            <a:off x="8231911" y="4180114"/>
            <a:ext cx="274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Relacionada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saída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9" name="Google Shape;1909;g3cce72836e3_0_27"/>
          <p:cNvCxnSpPr>
            <a:stCxn id="1903" idx="3"/>
          </p:cNvCxnSpPr>
          <p:nvPr/>
        </p:nvCxnSpPr>
        <p:spPr>
          <a:xfrm flipH="1" rot="10800000">
            <a:off x="7677708" y="4618109"/>
            <a:ext cx="764100" cy="165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cce72836e3_0_42"/>
          <p:cNvSpPr/>
          <p:nvPr/>
        </p:nvSpPr>
        <p:spPr>
          <a:xfrm>
            <a:off x="3943926" y="4461456"/>
            <a:ext cx="3889500" cy="11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g3cce72836e3_0_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Para </a:t>
            </a:r>
            <a:r>
              <a:rPr lang="pt-BR">
                <a:solidFill>
                  <a:srgbClr val="FF0000"/>
                </a:solidFill>
              </a:rPr>
              <a:t>incremento do controle</a:t>
            </a:r>
            <a:r>
              <a:rPr lang="pt-BR"/>
              <a:t>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Em formato matricial:</a:t>
            </a:r>
            <a:endParaRPr/>
          </a:p>
        </p:txBody>
      </p:sp>
      <p:sp>
        <p:nvSpPr>
          <p:cNvPr id="1916" name="Google Shape;1916;g3cce72836e3_0_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917" name="Google Shape;1917;g3cce72836e3_0_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1918" name="Google Shape;1918;g3cce72836e3_0_42"/>
          <p:cNvSpPr/>
          <p:nvPr/>
        </p:nvSpPr>
        <p:spPr>
          <a:xfrm>
            <a:off x="4468908" y="2353187"/>
            <a:ext cx="2754600" cy="53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g3cce72836e3_0_42"/>
          <p:cNvSpPr/>
          <p:nvPr/>
        </p:nvSpPr>
        <p:spPr>
          <a:xfrm>
            <a:off x="4706473" y="2894664"/>
            <a:ext cx="2279400" cy="523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g3cce72836e3_0_42"/>
          <p:cNvSpPr/>
          <p:nvPr/>
        </p:nvSpPr>
        <p:spPr>
          <a:xfrm>
            <a:off x="3858837" y="4461456"/>
            <a:ext cx="3974700" cy="994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cce72836e3_0_52"/>
          <p:cNvSpPr/>
          <p:nvPr/>
        </p:nvSpPr>
        <p:spPr>
          <a:xfrm>
            <a:off x="4001466" y="5019915"/>
            <a:ext cx="5433900" cy="126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g3cce72836e3_0_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Para </a:t>
            </a:r>
            <a:r>
              <a:rPr lang="pt-BR">
                <a:solidFill>
                  <a:srgbClr val="FF0000"/>
                </a:solidFill>
              </a:rPr>
              <a:t>lei de controle</a:t>
            </a:r>
            <a:r>
              <a:rPr lang="pt-BR"/>
              <a:t>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Em formato matricial:</a:t>
            </a:r>
            <a:endParaRPr/>
          </a:p>
        </p:txBody>
      </p:sp>
      <p:sp>
        <p:nvSpPr>
          <p:cNvPr id="1927" name="Google Shape;1927;g3cce72836e3_0_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1600">
                <a:solidFill>
                  <a:schemeClr val="dk1"/>
                </a:solidFill>
              </a:rPr>
              <a:t>03/11/2021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928" name="Google Shape;1928;g3cce72836e3_0_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pt-BR" sz="2000">
                <a:solidFill>
                  <a:schemeClr val="dk1"/>
                </a:solidFill>
              </a:rPr>
              <a:t>‹#›</a:t>
            </a:fld>
            <a:endParaRPr b="1" sz="2000">
              <a:solidFill>
                <a:schemeClr val="dk1"/>
              </a:solidFill>
            </a:endParaRPr>
          </a:p>
        </p:txBody>
      </p:sp>
      <p:sp>
        <p:nvSpPr>
          <p:cNvPr id="1929" name="Google Shape;1929;g3cce72836e3_0_52"/>
          <p:cNvSpPr/>
          <p:nvPr/>
        </p:nvSpPr>
        <p:spPr>
          <a:xfrm>
            <a:off x="1817914" y="2121758"/>
            <a:ext cx="9696000" cy="220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g3cce72836e3_0_52"/>
          <p:cNvSpPr/>
          <p:nvPr/>
        </p:nvSpPr>
        <p:spPr>
          <a:xfrm>
            <a:off x="3719009" y="5653743"/>
            <a:ext cx="5642100" cy="523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g3cce72836e3_0_52"/>
          <p:cNvSpPr/>
          <p:nvPr/>
        </p:nvSpPr>
        <p:spPr>
          <a:xfrm>
            <a:off x="4020128" y="5047908"/>
            <a:ext cx="5433900" cy="53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2020-10-21T15:33:38Z</dcterms:created>
  <dc:creator>Edson Batista</dc:creator>
</cp:coreProperties>
</file>